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59" r:id="rId5"/>
    <p:sldId id="264" r:id="rId6"/>
    <p:sldId id="263" r:id="rId7"/>
    <p:sldId id="260" r:id="rId8"/>
    <p:sldId id="261" r:id="rId9"/>
    <p:sldId id="262" r:id="rId10"/>
    <p:sldId id="265" r:id="rId11"/>
    <p:sldId id="266" r:id="rId12"/>
    <p:sldId id="267" r:id="rId13"/>
    <p:sldId id="268" r:id="rId14"/>
    <p:sldId id="269" r:id="rId1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25" autoAdjust="0"/>
    <p:restoredTop sz="94660"/>
  </p:normalViewPr>
  <p:slideViewPr>
    <p:cSldViewPr snapToGrid="0">
      <p:cViewPr varScale="1">
        <p:scale>
          <a:sx n="128" d="100"/>
          <a:sy n="128" d="100"/>
        </p:scale>
        <p:origin x="32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C81617-240B-4524-B831-AF89A20DBAF8}"/>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a:p>
        </p:txBody>
      </p:sp>
      <p:sp>
        <p:nvSpPr>
          <p:cNvPr id="3" name="Untertitel 2">
            <a:extLst>
              <a:ext uri="{FF2B5EF4-FFF2-40B4-BE49-F238E27FC236}">
                <a16:creationId xmlns:a16="http://schemas.microsoft.com/office/drawing/2014/main" id="{40199AFA-6292-4080-BDAA-851452F19C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sp>
        <p:nvSpPr>
          <p:cNvPr id="4" name="Datumsplatzhalter 3">
            <a:extLst>
              <a:ext uri="{FF2B5EF4-FFF2-40B4-BE49-F238E27FC236}">
                <a16:creationId xmlns:a16="http://schemas.microsoft.com/office/drawing/2014/main" id="{DFCD547E-365D-415A-B2FF-F539DAA3F11B}"/>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7D3FD682-12EF-47F3-9748-2686E5198020}"/>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986C7144-5F63-4B2A-AD82-03CEB02B2420}"/>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405588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0A1970-3D40-423F-B690-B281D344358F}"/>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0A13FBE7-F930-44E8-9232-8D0BD480B1B0}"/>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B680D706-B9B0-4F27-8F0D-7E546322D9AB}"/>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C4E0B645-5F66-48C7-9203-D6CCAF5C057D}"/>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F2636DCB-B38A-440C-B9B5-9F3FAC676214}"/>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949940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55FF20-0F14-4F5F-81A7-0B208E35CEE2}"/>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a:p>
        </p:txBody>
      </p:sp>
      <p:sp>
        <p:nvSpPr>
          <p:cNvPr id="3" name="Textplatzhalter 2">
            <a:extLst>
              <a:ext uri="{FF2B5EF4-FFF2-40B4-BE49-F238E27FC236}">
                <a16:creationId xmlns:a16="http://schemas.microsoft.com/office/drawing/2014/main" id="{0E2C48F6-B315-4EE0-849D-5363D71745F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1D9D97F-9E32-4A11-B196-14EB5A038C83}"/>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F0FF6659-FE85-4674-B9FE-C0007C2B80B9}"/>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57D1F838-9ED7-4B1A-9060-309D7B775C47}"/>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752997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AA0FB9-3667-4762-990F-57A499DD3586}"/>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E421C3C7-836F-4128-A2B6-398495185888}"/>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Inhaltsplatzhalter 3">
            <a:extLst>
              <a:ext uri="{FF2B5EF4-FFF2-40B4-BE49-F238E27FC236}">
                <a16:creationId xmlns:a16="http://schemas.microsoft.com/office/drawing/2014/main" id="{E49F410A-01C0-423C-809F-0B075636B370}"/>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umsplatzhalter 4">
            <a:extLst>
              <a:ext uri="{FF2B5EF4-FFF2-40B4-BE49-F238E27FC236}">
                <a16:creationId xmlns:a16="http://schemas.microsoft.com/office/drawing/2014/main" id="{FDE04FF5-7EFC-4AD6-84C2-AC6EEB96DE46}"/>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6" name="Fußzeilenplatzhalter 5">
            <a:extLst>
              <a:ext uri="{FF2B5EF4-FFF2-40B4-BE49-F238E27FC236}">
                <a16:creationId xmlns:a16="http://schemas.microsoft.com/office/drawing/2014/main" id="{4ED50B05-B777-494C-A5FA-AAA48702B37F}"/>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74858235-77CF-4160-89AB-EE672716BDC2}"/>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685984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DAD345-84CB-44D0-8CA2-5F7159B8551C}"/>
              </a:ext>
            </a:extLst>
          </p:cNvPr>
          <p:cNvSpPr>
            <a:spLocks noGrp="1"/>
          </p:cNvSpPr>
          <p:nvPr>
            <p:ph type="title"/>
          </p:nvPr>
        </p:nvSpPr>
        <p:spPr>
          <a:xfrm>
            <a:off x="839788" y="365125"/>
            <a:ext cx="10515600" cy="1325563"/>
          </a:xfrm>
        </p:spPr>
        <p:txBody>
          <a:bodyPr/>
          <a:lstStyle/>
          <a:p>
            <a:r>
              <a:rPr lang="de-DE"/>
              <a:t>Mastertitelformat bearbeiten</a:t>
            </a:r>
            <a:endParaRPr lang="en-US"/>
          </a:p>
        </p:txBody>
      </p:sp>
      <p:sp>
        <p:nvSpPr>
          <p:cNvPr id="3" name="Textplatzhalter 2">
            <a:extLst>
              <a:ext uri="{FF2B5EF4-FFF2-40B4-BE49-F238E27FC236}">
                <a16:creationId xmlns:a16="http://schemas.microsoft.com/office/drawing/2014/main" id="{9FD3A067-8760-4D03-B9EB-B796FF9960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ECB0C068-FD1E-4C3D-AE27-4AF2BB749B9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platzhalter 4">
            <a:extLst>
              <a:ext uri="{FF2B5EF4-FFF2-40B4-BE49-F238E27FC236}">
                <a16:creationId xmlns:a16="http://schemas.microsoft.com/office/drawing/2014/main" id="{875543B6-1A8C-4BE4-83E8-797DDF6ABF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8B75F9B7-8BEA-4F88-870D-069861299B3F}"/>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umsplatzhalter 6">
            <a:extLst>
              <a:ext uri="{FF2B5EF4-FFF2-40B4-BE49-F238E27FC236}">
                <a16:creationId xmlns:a16="http://schemas.microsoft.com/office/drawing/2014/main" id="{101A8EB4-0055-4675-8638-EAB8058F394B}"/>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8" name="Fußzeilenplatzhalter 7">
            <a:extLst>
              <a:ext uri="{FF2B5EF4-FFF2-40B4-BE49-F238E27FC236}">
                <a16:creationId xmlns:a16="http://schemas.microsoft.com/office/drawing/2014/main" id="{A8E0884D-9C3B-4651-B096-BFF82DAFDD59}"/>
              </a:ext>
            </a:extLst>
          </p:cNvPr>
          <p:cNvSpPr>
            <a:spLocks noGrp="1"/>
          </p:cNvSpPr>
          <p:nvPr>
            <p:ph type="ftr" sz="quarter" idx="11"/>
          </p:nvPr>
        </p:nvSpPr>
        <p:spPr/>
        <p:txBody>
          <a:bodyPr/>
          <a:lstStyle/>
          <a:p>
            <a:endParaRPr lang="en-US"/>
          </a:p>
        </p:txBody>
      </p:sp>
      <p:sp>
        <p:nvSpPr>
          <p:cNvPr id="9" name="Foliennummernplatzhalter 8">
            <a:extLst>
              <a:ext uri="{FF2B5EF4-FFF2-40B4-BE49-F238E27FC236}">
                <a16:creationId xmlns:a16="http://schemas.microsoft.com/office/drawing/2014/main" id="{31C57E87-9EC5-482D-AB35-0BC13DA44F18}"/>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6290213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90D47B-2EB0-46CA-8DC5-F31B91E03C8C}"/>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660561D4-EF7B-457D-9404-6553AAFADD9D}"/>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4" name="Fußzeilenplatzhalter 3">
            <a:extLst>
              <a:ext uri="{FF2B5EF4-FFF2-40B4-BE49-F238E27FC236}">
                <a16:creationId xmlns:a16="http://schemas.microsoft.com/office/drawing/2014/main" id="{AC10504A-0AB3-4C0E-8C9C-64FBD13730F8}"/>
              </a:ext>
            </a:extLst>
          </p:cNvPr>
          <p:cNvSpPr>
            <a:spLocks noGrp="1"/>
          </p:cNvSpPr>
          <p:nvPr>
            <p:ph type="ftr" sz="quarter" idx="11"/>
          </p:nvPr>
        </p:nvSpPr>
        <p:spPr/>
        <p:txBody>
          <a:bodyPr/>
          <a:lstStyle/>
          <a:p>
            <a:endParaRPr lang="en-US"/>
          </a:p>
        </p:txBody>
      </p:sp>
      <p:sp>
        <p:nvSpPr>
          <p:cNvPr id="5" name="Foliennummernplatzhalter 4">
            <a:extLst>
              <a:ext uri="{FF2B5EF4-FFF2-40B4-BE49-F238E27FC236}">
                <a16:creationId xmlns:a16="http://schemas.microsoft.com/office/drawing/2014/main" id="{6F08D5C8-0B1B-4DF9-A6E4-46895E35612C}"/>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40267355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DD1CE01-19CC-4F83-AAF2-76E89E740352}"/>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3" name="Fußzeilenplatzhalter 2">
            <a:extLst>
              <a:ext uri="{FF2B5EF4-FFF2-40B4-BE49-F238E27FC236}">
                <a16:creationId xmlns:a16="http://schemas.microsoft.com/office/drawing/2014/main" id="{9DACD585-0FBE-4133-9B99-B4AEBD426F43}"/>
              </a:ext>
            </a:extLst>
          </p:cNvPr>
          <p:cNvSpPr>
            <a:spLocks noGrp="1"/>
          </p:cNvSpPr>
          <p:nvPr>
            <p:ph type="ftr" sz="quarter" idx="11"/>
          </p:nvPr>
        </p:nvSpPr>
        <p:spPr/>
        <p:txBody>
          <a:bodyPr/>
          <a:lstStyle/>
          <a:p>
            <a:endParaRPr lang="en-US"/>
          </a:p>
        </p:txBody>
      </p:sp>
      <p:sp>
        <p:nvSpPr>
          <p:cNvPr id="4" name="Foliennummernplatzhalter 3">
            <a:extLst>
              <a:ext uri="{FF2B5EF4-FFF2-40B4-BE49-F238E27FC236}">
                <a16:creationId xmlns:a16="http://schemas.microsoft.com/office/drawing/2014/main" id="{E5E1323F-FFC8-4E2D-82F4-826DAFACA53B}"/>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271260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394069-5E45-4320-A957-C086D68F356C}"/>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Inhaltsplatzhalter 2">
            <a:extLst>
              <a:ext uri="{FF2B5EF4-FFF2-40B4-BE49-F238E27FC236}">
                <a16:creationId xmlns:a16="http://schemas.microsoft.com/office/drawing/2014/main" id="{B6A5A994-3FE0-4BF9-806B-EB192614B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platzhalter 3">
            <a:extLst>
              <a:ext uri="{FF2B5EF4-FFF2-40B4-BE49-F238E27FC236}">
                <a16:creationId xmlns:a16="http://schemas.microsoft.com/office/drawing/2014/main" id="{4D6D5BC0-7176-49F7-AE02-D9D6BE03B4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B5D1179F-AD48-476D-B30F-88788D694479}"/>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6" name="Fußzeilenplatzhalter 5">
            <a:extLst>
              <a:ext uri="{FF2B5EF4-FFF2-40B4-BE49-F238E27FC236}">
                <a16:creationId xmlns:a16="http://schemas.microsoft.com/office/drawing/2014/main" id="{685460D8-D86B-4367-A345-B08A973A2190}"/>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7EDEBC30-9320-4EBC-9567-5104AA0FCD44}"/>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84953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F4212BB-EBFD-47C1-B5E9-0F24A26DE81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Bildplatzhalter 2">
            <a:extLst>
              <a:ext uri="{FF2B5EF4-FFF2-40B4-BE49-F238E27FC236}">
                <a16:creationId xmlns:a16="http://schemas.microsoft.com/office/drawing/2014/main" id="{D69EC12B-BEBC-4F38-B581-1261E367F0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platzhalter 3">
            <a:extLst>
              <a:ext uri="{FF2B5EF4-FFF2-40B4-BE49-F238E27FC236}">
                <a16:creationId xmlns:a16="http://schemas.microsoft.com/office/drawing/2014/main" id="{46936997-8E08-49B6-8DF2-F1F937CA7E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7166578C-E562-4BA3-8CAA-40BF39DABCD2}"/>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6" name="Fußzeilenplatzhalter 5">
            <a:extLst>
              <a:ext uri="{FF2B5EF4-FFF2-40B4-BE49-F238E27FC236}">
                <a16:creationId xmlns:a16="http://schemas.microsoft.com/office/drawing/2014/main" id="{4FA13AD8-BB97-40C6-B2A5-3228DE1E723F}"/>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EB9BE6FF-E4C3-475D-88F5-E26651A14AC6}"/>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677347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0170952-BDED-4AA0-9AF8-0A16238926A8}"/>
              </a:ext>
            </a:extLst>
          </p:cNvPr>
          <p:cNvSpPr>
            <a:spLocks noGrp="1"/>
          </p:cNvSpPr>
          <p:nvPr>
            <p:ph type="title"/>
          </p:nvPr>
        </p:nvSpPr>
        <p:spPr/>
        <p:txBody>
          <a:bodyPr/>
          <a:lstStyle/>
          <a:p>
            <a:r>
              <a:rPr lang="de-DE"/>
              <a:t>Mastertitelformat bearbeiten</a:t>
            </a:r>
            <a:endParaRPr lang="en-US"/>
          </a:p>
        </p:txBody>
      </p:sp>
      <p:sp>
        <p:nvSpPr>
          <p:cNvPr id="3" name="Vertikaler Textplatzhalter 2">
            <a:extLst>
              <a:ext uri="{FF2B5EF4-FFF2-40B4-BE49-F238E27FC236}">
                <a16:creationId xmlns:a16="http://schemas.microsoft.com/office/drawing/2014/main" id="{F7D588D2-4646-467B-AD36-3C7E26BA733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0E6A16A0-4F9B-4F01-BA5B-A1CAD9AC4D5D}"/>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6E3462CD-AE4C-4A9D-98B0-8967BDCA31F2}"/>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CBABDD0D-C40E-4B50-9BD2-CA98ECAE0290}"/>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5929957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A7600A65-DF40-452D-A0FE-54493AA8BDE8}"/>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US"/>
          </a:p>
        </p:txBody>
      </p:sp>
      <p:sp>
        <p:nvSpPr>
          <p:cNvPr id="3" name="Vertikaler Textplatzhalter 2">
            <a:extLst>
              <a:ext uri="{FF2B5EF4-FFF2-40B4-BE49-F238E27FC236}">
                <a16:creationId xmlns:a16="http://schemas.microsoft.com/office/drawing/2014/main" id="{9FF1D44A-BEB1-4869-98FF-30D8EFADBED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6908A128-A253-476B-830C-C9BCFDE550E7}"/>
              </a:ext>
            </a:extLst>
          </p:cNvPr>
          <p:cNvSpPr>
            <a:spLocks noGrp="1"/>
          </p:cNvSpPr>
          <p:nvPr>
            <p:ph type="dt" sz="half" idx="10"/>
          </p:nvPr>
        </p:nvSpPr>
        <p:spPr/>
        <p:txBody>
          <a:body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B300D327-57C0-44E8-96BB-FB5A39BCD539}"/>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EF4F148F-0CF7-43D6-8D34-6BC8922E5C2E}"/>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320327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A94EB5B-81C1-4993-AD23-21642D168C3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platzhalter 2">
            <a:extLst>
              <a:ext uri="{FF2B5EF4-FFF2-40B4-BE49-F238E27FC236}">
                <a16:creationId xmlns:a16="http://schemas.microsoft.com/office/drawing/2014/main" id="{B03035E7-ED28-4E56-8CC6-90118C6164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A8843D4C-18E2-4407-8A04-559620DA3B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AFE238-BB13-420D-842F-E110498EBF98}" type="datetimeFigureOut">
              <a:rPr lang="en-US" smtClean="0"/>
              <a:t>11/29/25</a:t>
            </a:fld>
            <a:endParaRPr lang="en-US"/>
          </a:p>
        </p:txBody>
      </p:sp>
      <p:sp>
        <p:nvSpPr>
          <p:cNvPr id="5" name="Fußzeilenplatzhalter 4">
            <a:extLst>
              <a:ext uri="{FF2B5EF4-FFF2-40B4-BE49-F238E27FC236}">
                <a16:creationId xmlns:a16="http://schemas.microsoft.com/office/drawing/2014/main" id="{A1956D05-7519-4A68-883B-DF1A7752B0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Foliennummernplatzhalter 5">
            <a:extLst>
              <a:ext uri="{FF2B5EF4-FFF2-40B4-BE49-F238E27FC236}">
                <a16:creationId xmlns:a16="http://schemas.microsoft.com/office/drawing/2014/main" id="{5C21D61A-DDD2-4A60-AE3F-84922FCC3C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6109E94-A3CC-4B0B-98CC-499212A90507}" type="slidenum">
              <a:rPr lang="en-US" smtClean="0"/>
              <a:t>‹Nr.›</a:t>
            </a:fld>
            <a:endParaRPr lang="en-US"/>
          </a:p>
        </p:txBody>
      </p:sp>
    </p:spTree>
    <p:extLst>
      <p:ext uri="{BB962C8B-B14F-4D97-AF65-F5344CB8AC3E}">
        <p14:creationId xmlns:p14="http://schemas.microsoft.com/office/powerpoint/2010/main" val="709480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81A061-4493-492F-8176-C37075154585}"/>
              </a:ext>
            </a:extLst>
          </p:cNvPr>
          <p:cNvSpPr>
            <a:spLocks noGrp="1"/>
          </p:cNvSpPr>
          <p:nvPr>
            <p:ph type="ctrTitle"/>
          </p:nvPr>
        </p:nvSpPr>
        <p:spPr/>
        <p:txBody>
          <a:bodyPr/>
          <a:lstStyle/>
          <a:p>
            <a:r>
              <a:rPr lang="en-US" dirty="0" err="1"/>
              <a:t>Krimidinner</a:t>
            </a:r>
            <a:endParaRPr lang="en-US" dirty="0"/>
          </a:p>
        </p:txBody>
      </p:sp>
      <p:sp>
        <p:nvSpPr>
          <p:cNvPr id="3" name="Untertitel 2">
            <a:extLst>
              <a:ext uri="{FF2B5EF4-FFF2-40B4-BE49-F238E27FC236}">
                <a16:creationId xmlns:a16="http://schemas.microsoft.com/office/drawing/2014/main" id="{A1B63C24-D507-4B38-9686-7CF4BC0BA48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1141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en-US" dirty="0" err="1"/>
              <a:t>Einleitung</a:t>
            </a:r>
            <a:r>
              <a:rPr lang="en-US" dirty="0"/>
              <a:t> </a:t>
            </a:r>
          </a:p>
        </p:txBody>
      </p:sp>
      <p:sp>
        <p:nvSpPr>
          <p:cNvPr id="6" name="Textfeld 5">
            <a:extLst>
              <a:ext uri="{FF2B5EF4-FFF2-40B4-BE49-F238E27FC236}">
                <a16:creationId xmlns:a16="http://schemas.microsoft.com/office/drawing/2014/main" id="{D6301BE8-38DE-47E6-918E-D7FAB6094FAC}"/>
              </a:ext>
            </a:extLst>
          </p:cNvPr>
          <p:cNvSpPr txBox="1"/>
          <p:nvPr/>
        </p:nvSpPr>
        <p:spPr>
          <a:xfrm>
            <a:off x="7251569" y="2032049"/>
            <a:ext cx="4409387" cy="4401205"/>
          </a:xfrm>
          <a:prstGeom prst="rect">
            <a:avLst/>
          </a:prstGeom>
          <a:noFill/>
        </p:spPr>
        <p:txBody>
          <a:bodyPr wrap="square">
            <a:spAutoFit/>
          </a:bodyPr>
          <a:lstStyle/>
          <a:p>
            <a:r>
              <a:rPr lang="en-US" sz="1000" b="1" dirty="0"/>
              <a:t>NPCs – 5 </a:t>
            </a:r>
            <a:r>
              <a:rPr lang="en-US" sz="1000" b="1" dirty="0" err="1"/>
              <a:t>Figuren</a:t>
            </a:r>
            <a:r>
              <a:rPr lang="en-US" sz="1000" b="1" dirty="0"/>
              <a:t>, die </a:t>
            </a:r>
            <a:r>
              <a:rPr lang="en-US" sz="1000" b="1" dirty="0" err="1"/>
              <a:t>zum</a:t>
            </a:r>
            <a:r>
              <a:rPr lang="en-US" sz="1000" b="1" dirty="0"/>
              <a:t> Hotel </a:t>
            </a:r>
            <a:r>
              <a:rPr lang="en-US" sz="1000" b="1" dirty="0" err="1"/>
              <a:t>gehören</a:t>
            </a:r>
            <a:r>
              <a:rPr lang="en-US" sz="1000" b="1" dirty="0"/>
              <a:t> </a:t>
            </a:r>
            <a:r>
              <a:rPr lang="en-US" sz="1000" b="1" dirty="0" err="1"/>
              <a:t>oder</a:t>
            </a:r>
            <a:r>
              <a:rPr lang="en-US" sz="1000" b="1" dirty="0"/>
              <a:t> </a:t>
            </a:r>
            <a:r>
              <a:rPr lang="en-US" sz="1000" b="1" dirty="0" err="1"/>
              <a:t>Gäste</a:t>
            </a:r>
            <a:r>
              <a:rPr lang="en-US" sz="1000" b="1" dirty="0"/>
              <a:t> </a:t>
            </a:r>
            <a:r>
              <a:rPr lang="en-US" sz="1000" b="1" dirty="0" err="1"/>
              <a:t>sind</a:t>
            </a:r>
            <a:endParaRPr lang="en-US" sz="1000" b="1" dirty="0"/>
          </a:p>
          <a:p>
            <a:endParaRPr lang="en-US" sz="1000" dirty="0"/>
          </a:p>
          <a:p>
            <a:r>
              <a:rPr lang="en-US" sz="1000" dirty="0"/>
              <a:t>(2 </a:t>
            </a:r>
            <a:r>
              <a:rPr lang="en-US" sz="1000" dirty="0" err="1"/>
              <a:t>davon</a:t>
            </a:r>
            <a:r>
              <a:rPr lang="en-US" sz="1000" dirty="0"/>
              <a:t> </a:t>
            </a:r>
            <a:r>
              <a:rPr lang="en-US" sz="1000" dirty="0" err="1"/>
              <a:t>potenzielle</a:t>
            </a:r>
            <a:r>
              <a:rPr lang="en-US" sz="1000" dirty="0"/>
              <a:t> </a:t>
            </a:r>
            <a:r>
              <a:rPr lang="en-US" sz="1000" dirty="0" err="1"/>
              <a:t>Opfer</a:t>
            </a:r>
            <a:r>
              <a:rPr lang="en-US" sz="1000" dirty="0"/>
              <a:t>)</a:t>
            </a:r>
          </a:p>
          <a:p>
            <a:endParaRPr lang="en-US" sz="1000" dirty="0"/>
          </a:p>
          <a:p>
            <a:r>
              <a:rPr lang="en-US" sz="1000" dirty="0"/>
              <a:t>1. Viktor Bergmann (Hotelier, 58) – </a:t>
            </a:r>
            <a:r>
              <a:rPr lang="en-US" sz="1000" dirty="0" err="1"/>
              <a:t>Gastgeber</a:t>
            </a:r>
            <a:endParaRPr lang="en-US" sz="1000" dirty="0"/>
          </a:p>
          <a:p>
            <a:pPr marL="171450" indent="-171450">
              <a:buFont typeface="Arial" panose="020B0604020202020204" pitchFamily="34" charset="0"/>
              <a:buChar char="•"/>
            </a:pPr>
            <a:r>
              <a:rPr lang="en-US" sz="1000" dirty="0" err="1"/>
              <a:t>Wirkt</a:t>
            </a:r>
            <a:r>
              <a:rPr lang="en-US" sz="1000" dirty="0"/>
              <a:t> </a:t>
            </a:r>
            <a:r>
              <a:rPr lang="en-US" sz="1000" dirty="0" err="1"/>
              <a:t>gestresst</a:t>
            </a:r>
            <a:r>
              <a:rPr lang="en-US" sz="1000" dirty="0"/>
              <a:t>, </a:t>
            </a:r>
            <a:r>
              <a:rPr lang="en-US" sz="1000" dirty="0" err="1"/>
              <a:t>aber</a:t>
            </a:r>
            <a:r>
              <a:rPr lang="en-US" sz="1000" dirty="0"/>
              <a:t> </a:t>
            </a:r>
            <a:r>
              <a:rPr lang="en-US" sz="1000" dirty="0" err="1"/>
              <a:t>bemüht</a:t>
            </a:r>
            <a:r>
              <a:rPr lang="en-US" sz="1000" dirty="0"/>
              <a:t>.</a:t>
            </a:r>
          </a:p>
          <a:p>
            <a:pPr marL="171450" indent="-171450">
              <a:buFont typeface="Arial" panose="020B0604020202020204" pitchFamily="34" charset="0"/>
              <a:buChar char="•"/>
            </a:pPr>
            <a:r>
              <a:rPr lang="en-US" sz="1000" dirty="0" err="1"/>
              <a:t>Braucht</a:t>
            </a:r>
            <a:r>
              <a:rPr lang="en-US" sz="1000" dirty="0"/>
              <a:t> </a:t>
            </a:r>
            <a:r>
              <a:rPr lang="en-US" sz="1000" dirty="0" err="1"/>
              <a:t>Investoren</a:t>
            </a:r>
            <a:endParaRPr lang="en-US" sz="1000" dirty="0"/>
          </a:p>
          <a:p>
            <a:pPr marL="171450" indent="-171450">
              <a:buFont typeface="Arial" panose="020B0604020202020204" pitchFamily="34" charset="0"/>
              <a:buChar char="•"/>
            </a:pPr>
            <a:r>
              <a:rPr lang="en-US" sz="1000" dirty="0" err="1"/>
              <a:t>Kennt</a:t>
            </a:r>
            <a:r>
              <a:rPr lang="en-US" sz="1000" dirty="0"/>
              <a:t> </a:t>
            </a:r>
            <a:r>
              <a:rPr lang="en-US" sz="1000" dirty="0" err="1"/>
              <a:t>alte</a:t>
            </a:r>
            <a:r>
              <a:rPr lang="en-US" sz="1000" dirty="0"/>
              <a:t> </a:t>
            </a:r>
            <a:r>
              <a:rPr lang="en-US" sz="1000" dirty="0" err="1"/>
              <a:t>Gerüchte</a:t>
            </a:r>
            <a:r>
              <a:rPr lang="en-US" sz="1000" dirty="0"/>
              <a:t> </a:t>
            </a:r>
            <a:r>
              <a:rPr lang="en-US" sz="1000" dirty="0" err="1"/>
              <a:t>über</a:t>
            </a:r>
            <a:r>
              <a:rPr lang="en-US" sz="1000" dirty="0"/>
              <a:t> das Hotel, </a:t>
            </a:r>
            <a:r>
              <a:rPr lang="en-US" sz="1000" dirty="0" err="1"/>
              <a:t>spricht</a:t>
            </a:r>
            <a:r>
              <a:rPr lang="en-US" sz="1000" dirty="0"/>
              <a:t> </a:t>
            </a:r>
            <a:r>
              <a:rPr lang="en-US" sz="1000" dirty="0" err="1"/>
              <a:t>ungern</a:t>
            </a:r>
            <a:r>
              <a:rPr lang="en-US" sz="1000" dirty="0"/>
              <a:t> </a:t>
            </a:r>
            <a:r>
              <a:rPr lang="en-US" sz="1000" dirty="0" err="1"/>
              <a:t>darüber</a:t>
            </a:r>
            <a:r>
              <a:rPr lang="en-US" sz="1000" dirty="0"/>
              <a:t>.</a:t>
            </a:r>
          </a:p>
          <a:p>
            <a:endParaRPr lang="en-US" sz="1000" dirty="0"/>
          </a:p>
          <a:p>
            <a:r>
              <a:rPr lang="en-US" sz="1000" dirty="0"/>
              <a:t>2. Helga Baumgartner (</a:t>
            </a:r>
            <a:r>
              <a:rPr lang="en-US" sz="1000" dirty="0" err="1"/>
              <a:t>Hausdame</a:t>
            </a:r>
            <a:r>
              <a:rPr lang="en-US" sz="1000" dirty="0"/>
              <a:t>, 63)</a:t>
            </a:r>
          </a:p>
          <a:p>
            <a:pPr marL="171450" indent="-171450">
              <a:buFont typeface="Arial" panose="020B0604020202020204" pitchFamily="34" charset="0"/>
              <a:buChar char="•"/>
            </a:pPr>
            <a:r>
              <a:rPr lang="en-US" sz="1000" dirty="0" err="1"/>
              <a:t>Seit</a:t>
            </a:r>
            <a:r>
              <a:rPr lang="en-US" sz="1000" dirty="0"/>
              <a:t> 40 Jahren </a:t>
            </a:r>
            <a:r>
              <a:rPr lang="en-US" sz="1000" dirty="0" err="1"/>
              <a:t>im</a:t>
            </a:r>
            <a:r>
              <a:rPr lang="en-US" sz="1000" dirty="0"/>
              <a:t> Hotel.</a:t>
            </a:r>
          </a:p>
          <a:p>
            <a:pPr marL="171450" indent="-171450">
              <a:buFont typeface="Arial" panose="020B0604020202020204" pitchFamily="34" charset="0"/>
              <a:buChar char="•"/>
            </a:pPr>
            <a:r>
              <a:rPr lang="en-US" sz="1000" dirty="0" err="1"/>
              <a:t>Sieht</a:t>
            </a:r>
            <a:r>
              <a:rPr lang="en-US" sz="1000" dirty="0"/>
              <a:t> </a:t>
            </a:r>
            <a:r>
              <a:rPr lang="en-US" sz="1000" dirty="0" err="1"/>
              <a:t>alles</a:t>
            </a:r>
            <a:r>
              <a:rPr lang="en-US" sz="1000" dirty="0"/>
              <a:t>, </a:t>
            </a:r>
            <a:r>
              <a:rPr lang="en-US" sz="1000" dirty="0" err="1"/>
              <a:t>hört</a:t>
            </a:r>
            <a:r>
              <a:rPr lang="en-US" sz="1000" dirty="0"/>
              <a:t> </a:t>
            </a:r>
            <a:r>
              <a:rPr lang="en-US" sz="1000" dirty="0" err="1"/>
              <a:t>alles</a:t>
            </a:r>
            <a:r>
              <a:rPr lang="en-US" sz="1000" dirty="0"/>
              <a:t>.</a:t>
            </a:r>
          </a:p>
          <a:p>
            <a:pPr marL="171450" indent="-171450">
              <a:buFont typeface="Arial" panose="020B0604020202020204" pitchFamily="34" charset="0"/>
              <a:buChar char="•"/>
            </a:pPr>
            <a:r>
              <a:rPr lang="en-US" sz="1000" dirty="0"/>
              <a:t>Hat </a:t>
            </a:r>
            <a:r>
              <a:rPr lang="en-US" sz="1000" dirty="0" err="1"/>
              <a:t>eine</a:t>
            </a:r>
            <a:r>
              <a:rPr lang="en-US" sz="1000" dirty="0"/>
              <a:t> </a:t>
            </a:r>
            <a:r>
              <a:rPr lang="en-US" sz="1000" dirty="0" err="1"/>
              <a:t>unheimliche</a:t>
            </a:r>
            <a:r>
              <a:rPr lang="en-US" sz="1000" dirty="0"/>
              <a:t> </a:t>
            </a:r>
            <a:r>
              <a:rPr lang="en-US" sz="1000" dirty="0" err="1"/>
              <a:t>Ruhe</a:t>
            </a:r>
            <a:r>
              <a:rPr lang="en-US" sz="1000" dirty="0"/>
              <a:t>, </a:t>
            </a:r>
            <a:r>
              <a:rPr lang="en-US" sz="1000" dirty="0" err="1"/>
              <a:t>wenn</a:t>
            </a:r>
            <a:r>
              <a:rPr lang="en-US" sz="1000" dirty="0"/>
              <a:t> es um die „</a:t>
            </a:r>
            <a:r>
              <a:rPr lang="en-US" sz="1000" dirty="0" err="1"/>
              <a:t>Nächte</a:t>
            </a:r>
            <a:r>
              <a:rPr lang="en-US" sz="1000" dirty="0"/>
              <a:t> </a:t>
            </a:r>
            <a:r>
              <a:rPr lang="en-US" sz="1000" dirty="0" err="1"/>
              <a:t>im</a:t>
            </a:r>
            <a:r>
              <a:rPr lang="en-US" sz="1000" dirty="0"/>
              <a:t> </a:t>
            </a:r>
            <a:r>
              <a:rPr lang="en-US" sz="1000" dirty="0" err="1"/>
              <a:t>Dezember</a:t>
            </a:r>
            <a:r>
              <a:rPr lang="en-US" sz="1000" dirty="0"/>
              <a:t>“ </a:t>
            </a:r>
            <a:r>
              <a:rPr lang="en-US" sz="1000" dirty="0" err="1"/>
              <a:t>geht</a:t>
            </a:r>
            <a:r>
              <a:rPr lang="en-US" sz="1000" dirty="0"/>
              <a:t>.</a:t>
            </a:r>
          </a:p>
          <a:p>
            <a:endParaRPr lang="en-US" sz="1000" dirty="0"/>
          </a:p>
          <a:p>
            <a:r>
              <a:rPr lang="en-US" sz="1000" dirty="0"/>
              <a:t>3. Jonas </a:t>
            </a:r>
            <a:r>
              <a:rPr lang="en-US" sz="1000" dirty="0" err="1"/>
              <a:t>Reber</a:t>
            </a:r>
            <a:r>
              <a:rPr lang="en-US" sz="1000" dirty="0"/>
              <a:t> (Koch, 27)</a:t>
            </a:r>
          </a:p>
          <a:p>
            <a:pPr marL="171450" indent="-171450">
              <a:buFont typeface="Arial" panose="020B0604020202020204" pitchFamily="34" charset="0"/>
              <a:buChar char="•"/>
            </a:pPr>
            <a:r>
              <a:rPr lang="en-US" sz="1000" dirty="0"/>
              <a:t>Freundlich, </a:t>
            </a:r>
            <a:r>
              <a:rPr lang="en-US" sz="1000" dirty="0" err="1"/>
              <a:t>aber</a:t>
            </a:r>
            <a:r>
              <a:rPr lang="en-US" sz="1000" dirty="0"/>
              <a:t> </a:t>
            </a:r>
            <a:r>
              <a:rPr lang="en-US" sz="1000" dirty="0" err="1"/>
              <a:t>überdreht</a:t>
            </a:r>
            <a:r>
              <a:rPr lang="en-US" sz="1000" dirty="0"/>
              <a:t>.</a:t>
            </a:r>
          </a:p>
          <a:p>
            <a:pPr marL="171450" indent="-171450">
              <a:buFont typeface="Arial" panose="020B0604020202020204" pitchFamily="34" charset="0"/>
              <a:buChar char="•"/>
            </a:pPr>
            <a:r>
              <a:rPr lang="en-US" sz="1000" dirty="0" err="1"/>
              <a:t>Trinkt</a:t>
            </a:r>
            <a:r>
              <a:rPr lang="en-US" sz="1000" dirty="0"/>
              <a:t> </a:t>
            </a:r>
            <a:r>
              <a:rPr lang="en-US" sz="1000" dirty="0" err="1"/>
              <a:t>heimlich</a:t>
            </a:r>
            <a:r>
              <a:rPr lang="en-US" sz="1000" dirty="0"/>
              <a:t> Rum.</a:t>
            </a:r>
          </a:p>
          <a:p>
            <a:pPr marL="171450" indent="-171450">
              <a:buFont typeface="Arial" panose="020B0604020202020204" pitchFamily="34" charset="0"/>
              <a:buChar char="•"/>
            </a:pPr>
            <a:r>
              <a:rPr lang="en-US" sz="1000" dirty="0" err="1"/>
              <a:t>Möchte</a:t>
            </a:r>
            <a:r>
              <a:rPr lang="en-US" sz="1000" dirty="0"/>
              <a:t> </a:t>
            </a:r>
            <a:r>
              <a:rPr lang="en-US" sz="1000" dirty="0" err="1"/>
              <a:t>unbedingt</a:t>
            </a:r>
            <a:r>
              <a:rPr lang="en-US" sz="1000" dirty="0"/>
              <a:t> </a:t>
            </a:r>
            <a:r>
              <a:rPr lang="en-US" sz="1000" dirty="0" err="1"/>
              <a:t>eine</a:t>
            </a:r>
            <a:r>
              <a:rPr lang="en-US" sz="1000" dirty="0"/>
              <a:t> </a:t>
            </a:r>
            <a:r>
              <a:rPr lang="en-US" sz="1000" dirty="0" err="1"/>
              <a:t>Kochshow</a:t>
            </a:r>
            <a:r>
              <a:rPr lang="en-US" sz="1000" dirty="0"/>
              <a:t> </a:t>
            </a:r>
            <a:r>
              <a:rPr lang="en-US" sz="1000" dirty="0" err="1"/>
              <a:t>starten</a:t>
            </a:r>
            <a:r>
              <a:rPr lang="en-US" sz="1000" dirty="0"/>
              <a:t>, </a:t>
            </a:r>
            <a:r>
              <a:rPr lang="en-US" sz="1000" dirty="0" err="1"/>
              <a:t>filmt</a:t>
            </a:r>
            <a:r>
              <a:rPr lang="en-US" sz="1000" dirty="0"/>
              <a:t> </a:t>
            </a:r>
            <a:r>
              <a:rPr lang="en-US" sz="1000" dirty="0" err="1"/>
              <a:t>ständig</a:t>
            </a:r>
            <a:r>
              <a:rPr lang="en-US" sz="1000" dirty="0"/>
              <a:t>.</a:t>
            </a:r>
          </a:p>
          <a:p>
            <a:endParaRPr lang="en-US" sz="1000" dirty="0"/>
          </a:p>
          <a:p>
            <a:r>
              <a:rPr lang="en-US" sz="1000" dirty="0"/>
              <a:t>4. Elise </a:t>
            </a:r>
            <a:r>
              <a:rPr lang="en-US" sz="1000" dirty="0" err="1"/>
              <a:t>Montandon</a:t>
            </a:r>
            <a:r>
              <a:rPr lang="en-US" sz="1000" dirty="0"/>
              <a:t> (</a:t>
            </a:r>
            <a:r>
              <a:rPr lang="en-US" sz="1000" dirty="0" err="1"/>
              <a:t>Reiche</a:t>
            </a:r>
            <a:r>
              <a:rPr lang="en-US" sz="1000" dirty="0"/>
              <a:t> </a:t>
            </a:r>
            <a:r>
              <a:rPr lang="en-US" sz="1000" dirty="0" err="1"/>
              <a:t>Witwe</a:t>
            </a:r>
            <a:r>
              <a:rPr lang="en-US" sz="1000" dirty="0"/>
              <a:t>, 71)</a:t>
            </a:r>
          </a:p>
          <a:p>
            <a:pPr marL="171450" indent="-171450">
              <a:buFont typeface="Arial" panose="020B0604020202020204" pitchFamily="34" charset="0"/>
              <a:buChar char="•"/>
            </a:pPr>
            <a:r>
              <a:rPr lang="en-US" sz="1000" dirty="0"/>
              <a:t>Die 3. Frau von Dimitri – hat </a:t>
            </a:r>
            <a:r>
              <a:rPr lang="en-US" sz="1000" dirty="0" err="1"/>
              <a:t>Mädchennamen</a:t>
            </a:r>
            <a:r>
              <a:rPr lang="en-US" sz="1000" dirty="0"/>
              <a:t> </a:t>
            </a:r>
            <a:r>
              <a:rPr lang="en-US" sz="1000" dirty="0" err="1"/>
              <a:t>behalten</a:t>
            </a:r>
            <a:endParaRPr lang="en-US" sz="1000" dirty="0"/>
          </a:p>
          <a:p>
            <a:pPr marL="171450" indent="-171450">
              <a:buFont typeface="Arial" panose="020B0604020202020204" pitchFamily="34" charset="0"/>
              <a:buChar char="•"/>
            </a:pPr>
            <a:r>
              <a:rPr lang="en-US" sz="1000" dirty="0" err="1"/>
              <a:t>Zickig</a:t>
            </a:r>
            <a:r>
              <a:rPr lang="en-US" sz="1000" dirty="0"/>
              <a:t>, latent </a:t>
            </a:r>
            <a:r>
              <a:rPr lang="en-US" sz="1000" dirty="0" err="1"/>
              <a:t>gemein</a:t>
            </a:r>
            <a:r>
              <a:rPr lang="en-US" sz="1000" dirty="0"/>
              <a:t>.</a:t>
            </a:r>
          </a:p>
          <a:p>
            <a:pPr marL="171450" indent="-171450">
              <a:buFont typeface="Arial" panose="020B0604020202020204" pitchFamily="34" charset="0"/>
              <a:buChar char="•"/>
            </a:pPr>
            <a:r>
              <a:rPr lang="en-US" sz="1000" dirty="0"/>
              <a:t>Hat </a:t>
            </a:r>
            <a:r>
              <a:rPr lang="en-US" sz="1000" dirty="0" err="1"/>
              <a:t>große</a:t>
            </a:r>
            <a:r>
              <a:rPr lang="en-US" sz="1000" dirty="0"/>
              <a:t> Angst </a:t>
            </a:r>
            <a:r>
              <a:rPr lang="en-US" sz="1000" dirty="0" err="1"/>
              <a:t>vor</a:t>
            </a:r>
            <a:r>
              <a:rPr lang="en-US" sz="1000" dirty="0"/>
              <a:t> </a:t>
            </a:r>
            <a:r>
              <a:rPr lang="en-US" sz="1000" dirty="0" err="1"/>
              <a:t>Hunden</a:t>
            </a:r>
            <a:endParaRPr lang="en-US" sz="1000" dirty="0"/>
          </a:p>
          <a:p>
            <a:endParaRPr lang="en-US" sz="1000" dirty="0"/>
          </a:p>
          <a:p>
            <a:r>
              <a:rPr lang="en-US" sz="1000" dirty="0"/>
              <a:t>5. Dimitri Volkov (</a:t>
            </a:r>
            <a:r>
              <a:rPr lang="en-US" sz="1000" dirty="0" err="1"/>
              <a:t>Russischer</a:t>
            </a:r>
            <a:r>
              <a:rPr lang="en-US" sz="1000" dirty="0"/>
              <a:t> </a:t>
            </a:r>
            <a:r>
              <a:rPr lang="en-US" sz="1000" dirty="0" err="1"/>
              <a:t>Geschäftsmann</a:t>
            </a:r>
            <a:r>
              <a:rPr lang="en-US" sz="1000" dirty="0"/>
              <a:t>, 49)</a:t>
            </a:r>
          </a:p>
          <a:p>
            <a:pPr marL="171450" indent="-171450">
              <a:buFont typeface="Arial" panose="020B0604020202020204" pitchFamily="34" charset="0"/>
              <a:buChar char="•"/>
            </a:pPr>
            <a:r>
              <a:rPr lang="en-US" sz="1000" dirty="0"/>
              <a:t>„Gast“ und Mann von Elise </a:t>
            </a:r>
          </a:p>
          <a:p>
            <a:pPr marL="171450" indent="-171450">
              <a:buFont typeface="Arial" panose="020B0604020202020204" pitchFamily="34" charset="0"/>
              <a:buChar char="•"/>
            </a:pPr>
            <a:r>
              <a:rPr lang="en-US" sz="1000" dirty="0"/>
              <a:t>Ernst, </a:t>
            </a:r>
            <a:r>
              <a:rPr lang="en-US" sz="1000" dirty="0" err="1"/>
              <a:t>wortkarg</a:t>
            </a:r>
            <a:r>
              <a:rPr lang="en-US" sz="1000" dirty="0"/>
              <a:t>, </a:t>
            </a:r>
            <a:r>
              <a:rPr lang="en-US" sz="1000" dirty="0" err="1"/>
              <a:t>misstrauisch</a:t>
            </a:r>
            <a:r>
              <a:rPr lang="en-US" sz="1000" dirty="0"/>
              <a:t>.</a:t>
            </a:r>
          </a:p>
          <a:p>
            <a:pPr marL="171450" indent="-171450">
              <a:buFont typeface="Arial" panose="020B0604020202020204" pitchFamily="34" charset="0"/>
              <a:buChar char="•"/>
            </a:pPr>
            <a:r>
              <a:rPr lang="en-US" sz="1000" dirty="0" err="1"/>
              <a:t>Schlafwandelt</a:t>
            </a:r>
            <a:r>
              <a:rPr lang="en-US" sz="1000" dirty="0"/>
              <a:t> </a:t>
            </a:r>
            <a:r>
              <a:rPr lang="en-US" sz="1000" dirty="0" err="1"/>
              <a:t>angeblich</a:t>
            </a:r>
            <a:r>
              <a:rPr lang="en-US" sz="1000" dirty="0"/>
              <a:t> und </a:t>
            </a:r>
            <a:r>
              <a:rPr lang="en-US" sz="1000" dirty="0" err="1"/>
              <a:t>nimmt</a:t>
            </a:r>
            <a:r>
              <a:rPr lang="en-US" sz="1000" dirty="0"/>
              <a:t> </a:t>
            </a:r>
            <a:r>
              <a:rPr lang="en-US" sz="1000" dirty="0" err="1"/>
              <a:t>sich</a:t>
            </a:r>
            <a:r>
              <a:rPr lang="en-US" sz="1000" dirty="0"/>
              <a:t> </a:t>
            </a:r>
            <a:r>
              <a:rPr lang="en-US" sz="1000" dirty="0" err="1"/>
              <a:t>gern</a:t>
            </a:r>
            <a:r>
              <a:rPr lang="en-US" sz="1000" dirty="0"/>
              <a:t> Dinge die </a:t>
            </a:r>
            <a:r>
              <a:rPr lang="en-US" sz="1000" dirty="0" err="1"/>
              <a:t>ihm</a:t>
            </a:r>
            <a:r>
              <a:rPr lang="en-US" sz="1000" dirty="0"/>
              <a:t> gar </a:t>
            </a:r>
            <a:r>
              <a:rPr lang="en-US" sz="1000" dirty="0" err="1"/>
              <a:t>nicht</a:t>
            </a:r>
            <a:r>
              <a:rPr lang="en-US" sz="1000" dirty="0"/>
              <a:t> </a:t>
            </a:r>
            <a:r>
              <a:rPr lang="en-US" sz="1000" dirty="0" err="1"/>
              <a:t>gehören</a:t>
            </a:r>
            <a:endParaRPr lang="en-US" sz="1000" dirty="0"/>
          </a:p>
        </p:txBody>
      </p:sp>
      <p:sp>
        <p:nvSpPr>
          <p:cNvPr id="8" name="Textfeld 7">
            <a:extLst>
              <a:ext uri="{FF2B5EF4-FFF2-40B4-BE49-F238E27FC236}">
                <a16:creationId xmlns:a16="http://schemas.microsoft.com/office/drawing/2014/main" id="{16F97940-10AB-45CF-9494-D992A5A2DF2B}"/>
              </a:ext>
            </a:extLst>
          </p:cNvPr>
          <p:cNvSpPr txBox="1"/>
          <p:nvPr/>
        </p:nvSpPr>
        <p:spPr>
          <a:xfrm>
            <a:off x="294589" y="976247"/>
            <a:ext cx="6094428" cy="9787295"/>
          </a:xfrm>
          <a:prstGeom prst="rect">
            <a:avLst/>
          </a:prstGeom>
          <a:noFill/>
        </p:spPr>
        <p:txBody>
          <a:bodyPr wrap="square">
            <a:spAutoFit/>
          </a:bodyPr>
          <a:lstStyle/>
          <a:p>
            <a:r>
              <a:rPr lang="de-DE" sz="1000" dirty="0"/>
              <a:t>„Guten Abend und herzlich willkommen im verschneiten Hotel Aurora.“</a:t>
            </a:r>
          </a:p>
          <a:p>
            <a:endParaRPr lang="de-DE" sz="1000" dirty="0"/>
          </a:p>
          <a:p>
            <a:r>
              <a:rPr lang="de-DE" sz="1000" dirty="0"/>
              <a:t>„Wir schreiben den 4. Dezember 2025. Draußen wütet ein Schneesturm, der die Zufahrtsstraße blockiert hat. Niemand kommt hinein, niemand hinaus – und die Nacht wird länger, als es irgendeinem von uns lieb sein kann.</a:t>
            </a:r>
          </a:p>
          <a:p>
            <a:endParaRPr lang="de-DE" sz="1000" dirty="0"/>
          </a:p>
          <a:p>
            <a:r>
              <a:rPr lang="de-DE" sz="1000" dirty="0"/>
              <a:t>Ihr wurdet von Hotelier Viktor Bergmann zu einem besonderen Thanksgiving-Dinner eingeladen. Offiziell dient das Ganze als Generalprobe für die große Eröffnung im kommenden Jahr. Ein merkwürdiges Motto für ein Schweizer Berghotel, aber seine exklusiven Gäste sollen heute etwas erleben, das sie so schnell nicht vergessen werden.“</a:t>
            </a:r>
          </a:p>
          <a:p>
            <a:endParaRPr lang="de-DE" sz="1000" dirty="0"/>
          </a:p>
          <a:p>
            <a:r>
              <a:rPr lang="de-DE" sz="1000" dirty="0"/>
              <a:t>„Im Laufe des Abends werdet ihr essen, trinken und miteinander reden. Aber auch beobachten. Hinhören. Entscheidungen treffen. Und fast alles, was ihr tut, kann Folgen haben – für euch oder für andere.“</a:t>
            </a:r>
          </a:p>
          <a:p>
            <a:endParaRPr lang="de-DE" sz="1000" dirty="0"/>
          </a:p>
          <a:p>
            <a:r>
              <a:rPr lang="de-DE" sz="1000" dirty="0"/>
              <a:t>„Ihr spielt heute Menschen mit echten Geheimnissen. Manche von euch kennen sich, manche nicht. Manche verbergen etwas, manche sind hier, um etwas herauszufinden. Und später in der Nacht erhaltet ihr Umschläge mit euren privaten Rollen. Darin wird stehen, was ihr wirklich wisst – und wie ihr euch ab dann verhalten sollt. Vielleicht seid ihr völlig unschuldig… vielleicht tragt ihr ein uraltes Geheimnis in euch.“</a:t>
            </a:r>
          </a:p>
          <a:p>
            <a:endParaRPr lang="de-DE" sz="1000" dirty="0"/>
          </a:p>
          <a:p>
            <a:r>
              <a:rPr lang="de-DE" sz="1000" dirty="0"/>
              <a:t>„Doch bevor wir uns in die Schatten dieser Nacht begeben, möchte ich euch die Bewohner des Hotels vorstellen…“</a:t>
            </a:r>
          </a:p>
          <a:p>
            <a:endParaRPr lang="de-DE" sz="1000" dirty="0"/>
          </a:p>
          <a:p>
            <a:r>
              <a:rPr lang="de-DE" sz="1000" dirty="0"/>
              <a:t>NPC-Vorstellung</a:t>
            </a:r>
          </a:p>
          <a:p>
            <a:r>
              <a:rPr lang="de-DE" sz="1000" dirty="0"/>
              <a:t>1. Viktor Bergmann – Hotelier (58)</a:t>
            </a:r>
          </a:p>
          <a:p>
            <a:endParaRPr lang="de-DE" sz="1000" dirty="0"/>
          </a:p>
          <a:p>
            <a:r>
              <a:rPr lang="de-DE" sz="1000" dirty="0"/>
              <a:t>Euer Gastgeber.</a:t>
            </a:r>
          </a:p>
          <a:p>
            <a:r>
              <a:rPr lang="de-DE" sz="1000" dirty="0"/>
              <a:t>Ist seit 38 Viktor wirkt angespannt, die Augenringe tief, doch er bemüht sich, freundlich zu bleiben. Er braucht dringend Investoren, damit das Hotel Aurora endlich wieder eröffnen kann. Er kennt die alten Gerüchte, die um diesen Ort kreisen – aber er spricht darüber nur ungern.</a:t>
            </a:r>
          </a:p>
          <a:p>
            <a:endParaRPr lang="de-DE" sz="1000" dirty="0"/>
          </a:p>
          <a:p>
            <a:r>
              <a:rPr lang="de-DE" sz="1000" dirty="0"/>
              <a:t>2. Helga Baumgartner – Hausdame (63)</a:t>
            </a:r>
          </a:p>
          <a:p>
            <a:endParaRPr lang="de-DE" sz="1000" dirty="0"/>
          </a:p>
          <a:p>
            <a:r>
              <a:rPr lang="de-DE" sz="1000" dirty="0"/>
              <a:t>Seit vier Jahrzehnten arbeitet Helga im Hotel, und niemand kennt das Gebäude besser als sie.</a:t>
            </a:r>
          </a:p>
          <a:p>
            <a:r>
              <a:rPr lang="de-DE" sz="1000" dirty="0"/>
              <a:t>Sie sieht alles. Sie hört alles.</a:t>
            </a:r>
          </a:p>
          <a:p>
            <a:r>
              <a:rPr lang="de-DE" sz="1000" dirty="0"/>
              <a:t>Und wenn es um die „Nächte im Dezember“ geht, bekommt sie eine seltsame Ruhe, die man kaum einordnen kann. Manche sagen, sie wisse mehr, als sie zugeben will.</a:t>
            </a:r>
          </a:p>
          <a:p>
            <a:endParaRPr lang="de-DE" sz="1000" dirty="0"/>
          </a:p>
          <a:p>
            <a:r>
              <a:rPr lang="de-DE" sz="1000" dirty="0"/>
              <a:t>3. Jonas Reber – Koch (27)</a:t>
            </a:r>
          </a:p>
          <a:p>
            <a:endParaRPr lang="de-DE" sz="1000" dirty="0"/>
          </a:p>
          <a:p>
            <a:r>
              <a:rPr lang="de-DE" sz="1000" dirty="0"/>
              <a:t>Ein freundlicher junger Mann, ein bisschen überdreht, aber voller Energie. Jonas träumt davon, seine eigene Kochshow im Internet zu starten – deshalb filmt er ständig alles und jeden. Schlafen fällt ihm schwer, und wenn er nachts nicht zur Ruhe kommt, trinkt er manchmal heimlich Rum.</a:t>
            </a:r>
          </a:p>
          <a:p>
            <a:r>
              <a:rPr lang="de-DE" sz="1000" dirty="0"/>
              <a:t>Trotzdem gibt er sich Mühe, den Gästen etwas Besonderes zu servieren.</a:t>
            </a:r>
          </a:p>
          <a:p>
            <a:endParaRPr lang="de-DE" sz="1000" dirty="0"/>
          </a:p>
          <a:p>
            <a:r>
              <a:rPr lang="de-DE" sz="1000" dirty="0"/>
              <a:t>4. Elise Montandon – Reiche Witwe (71)</a:t>
            </a:r>
          </a:p>
          <a:p>
            <a:endParaRPr lang="de-DE" sz="1000" dirty="0"/>
          </a:p>
          <a:p>
            <a:r>
              <a:rPr lang="de-DE" sz="1000" dirty="0"/>
              <a:t>Elise ist die dritte Frau des Geschäftsmanns Dimitri Volkov, hat aber ihren Mädchennamen behalten – angeblich aus „Tradition“, sagen manche, aus „Eitelkeit“, sagen andere.</a:t>
            </a:r>
          </a:p>
          <a:p>
            <a:r>
              <a:rPr lang="de-DE" sz="1000" dirty="0"/>
              <a:t>Sie hat ein scharfes Mundwerk, wirkt oft zickig und latent gemein. Und sie hat große Angst vor Hunden.</a:t>
            </a:r>
          </a:p>
          <a:p>
            <a:r>
              <a:rPr lang="de-DE" sz="1000" dirty="0"/>
              <a:t>Warum genau sie hier ist, darüber lässt sie niemanden gern spekulieren.</a:t>
            </a:r>
          </a:p>
          <a:p>
            <a:endParaRPr lang="de-DE" sz="1000" dirty="0"/>
          </a:p>
          <a:p>
            <a:r>
              <a:rPr lang="de-DE" sz="1000" dirty="0"/>
              <a:t>5. Dimitri Volkov – Geschäftsmann (49)</a:t>
            </a:r>
          </a:p>
          <a:p>
            <a:endParaRPr lang="de-DE" sz="1000" dirty="0"/>
          </a:p>
          <a:p>
            <a:r>
              <a:rPr lang="de-DE" sz="1000" dirty="0"/>
              <a:t>Dimitri ist Elises Ehemann – ein wortkarger, ernster Mann mit leerem Blick und schwer zu durchdringender Miene.</a:t>
            </a:r>
          </a:p>
          <a:p>
            <a:r>
              <a:rPr lang="de-DE" sz="1000" dirty="0"/>
              <a:t>Er scheint niemandem zu vertrauen.</a:t>
            </a:r>
          </a:p>
          <a:p>
            <a:r>
              <a:rPr lang="de-DE" sz="1000" dirty="0"/>
              <a:t>Im Hotel heißt es, er schlafwandle manchmal, und manche behaupten, Dimitri sei schon öfter dabei erwischt worden, wie er Dinge an sich nahm, die ihm gar nicht gehören.</a:t>
            </a:r>
          </a:p>
          <a:p>
            <a:r>
              <a:rPr lang="de-DE" sz="1000" dirty="0"/>
              <a:t>Ob absichtlich oder im Schlaf – das sagt er nie.</a:t>
            </a:r>
          </a:p>
          <a:p>
            <a:endParaRPr lang="de-DE" sz="1000" dirty="0"/>
          </a:p>
          <a:p>
            <a:r>
              <a:rPr lang="de-DE" sz="1000" dirty="0"/>
              <a:t>Schlusssatz / Übergang zurück ins Spiel</a:t>
            </a:r>
          </a:p>
          <a:p>
            <a:endParaRPr lang="de-DE" sz="1000" dirty="0"/>
          </a:p>
          <a:p>
            <a:r>
              <a:rPr lang="de-DE" sz="1000" dirty="0"/>
              <a:t>„Diese Menschen werden euch heute begleiten – manche näher, manche aus der Ferne. Manche helfen euch, manche werden euch irritieren. Aber in einer Nacht wie dieser… kann man niemandem vollständig trauen.“</a:t>
            </a:r>
          </a:p>
          <a:p>
            <a:endParaRPr lang="de-DE" sz="1000" dirty="0"/>
          </a:p>
          <a:p>
            <a:r>
              <a:rPr lang="de-DE" sz="1000" dirty="0"/>
              <a:t>„Und nun: Willkommen im Hotel Aurora. Möge die Nacht ihren Lauf nehmen.“</a:t>
            </a:r>
            <a:endParaRPr lang="en-US" sz="1000" dirty="0"/>
          </a:p>
        </p:txBody>
      </p:sp>
    </p:spTree>
    <p:extLst>
      <p:ext uri="{BB962C8B-B14F-4D97-AF65-F5344CB8AC3E}">
        <p14:creationId xmlns:p14="http://schemas.microsoft.com/office/powerpoint/2010/main" val="19645253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en-US" dirty="0" err="1"/>
              <a:t>Charaktere</a:t>
            </a:r>
            <a:endParaRPr lang="en-US" dirty="0"/>
          </a:p>
        </p:txBody>
      </p:sp>
      <p:sp>
        <p:nvSpPr>
          <p:cNvPr id="5" name="Textfeld 4">
            <a:extLst>
              <a:ext uri="{FF2B5EF4-FFF2-40B4-BE49-F238E27FC236}">
                <a16:creationId xmlns:a16="http://schemas.microsoft.com/office/drawing/2014/main" id="{9704CF08-51C4-4DB5-A58E-45DCA54F586B}"/>
              </a:ext>
            </a:extLst>
          </p:cNvPr>
          <p:cNvSpPr txBox="1"/>
          <p:nvPr/>
        </p:nvSpPr>
        <p:spPr>
          <a:xfrm>
            <a:off x="117835" y="968106"/>
            <a:ext cx="6348953" cy="6093976"/>
          </a:xfrm>
          <a:prstGeom prst="rect">
            <a:avLst/>
          </a:prstGeom>
          <a:noFill/>
        </p:spPr>
        <p:txBody>
          <a:bodyPr wrap="square">
            <a:spAutoFit/>
          </a:bodyPr>
          <a:lstStyle/>
          <a:p>
            <a:r>
              <a:rPr lang="en-US" sz="1000" dirty="0"/>
              <a:t>Vincent Dubois (52) - </a:t>
            </a:r>
            <a:r>
              <a:rPr lang="en-US" sz="1000" dirty="0" err="1"/>
              <a:t>Lebemann</a:t>
            </a:r>
            <a:r>
              <a:rPr lang="en-US" sz="1000" dirty="0"/>
              <a:t> (</a:t>
            </a:r>
            <a:r>
              <a:rPr lang="en-US" sz="1000" dirty="0" err="1"/>
              <a:t>Aui</a:t>
            </a:r>
            <a:r>
              <a:rPr lang="en-US" sz="1000" dirty="0"/>
              <a:t>)</a:t>
            </a:r>
          </a:p>
          <a:p>
            <a:r>
              <a:rPr lang="en-US" sz="1000" dirty="0" err="1"/>
              <a:t>Beruf</a:t>
            </a:r>
            <a:r>
              <a:rPr lang="en-US" sz="1000" dirty="0"/>
              <a:t>: "</a:t>
            </a:r>
            <a:r>
              <a:rPr lang="en-US" sz="1000" dirty="0" err="1"/>
              <a:t>Begleitservice</a:t>
            </a:r>
            <a:r>
              <a:rPr lang="en-US" sz="1000" dirty="0"/>
              <a:t> </a:t>
            </a:r>
            <a:r>
              <a:rPr lang="en-US" sz="1000" dirty="0" err="1"/>
              <a:t>für</a:t>
            </a:r>
            <a:r>
              <a:rPr lang="en-US" sz="1000" dirty="0"/>
              <a:t> </a:t>
            </a:r>
            <a:r>
              <a:rPr lang="en-US" sz="1000" dirty="0" err="1"/>
              <a:t>gehobene</a:t>
            </a:r>
            <a:r>
              <a:rPr lang="en-US" sz="1000" dirty="0"/>
              <a:t> </a:t>
            </a:r>
            <a:r>
              <a:rPr lang="en-US" sz="1000" dirty="0" err="1"/>
              <a:t>Ansprüche</a:t>
            </a:r>
            <a:r>
              <a:rPr lang="en-US" sz="1000" dirty="0"/>
              <a:t>"</a:t>
            </a:r>
          </a:p>
          <a:p>
            <a:r>
              <a:rPr lang="en-US" sz="1000" dirty="0" err="1"/>
              <a:t>Äußeres</a:t>
            </a:r>
            <a:r>
              <a:rPr lang="en-US" sz="1000" dirty="0"/>
              <a:t>: </a:t>
            </a:r>
            <a:r>
              <a:rPr lang="en-US" sz="1000" dirty="0" err="1"/>
              <a:t>Immer</a:t>
            </a:r>
            <a:r>
              <a:rPr lang="en-US" sz="1000" dirty="0"/>
              <a:t> </a:t>
            </a:r>
            <a:r>
              <a:rPr lang="en-US" sz="1000" dirty="0" err="1"/>
              <a:t>perfekt</a:t>
            </a:r>
            <a:r>
              <a:rPr lang="en-US" sz="1000" dirty="0"/>
              <a:t>, </a:t>
            </a:r>
            <a:r>
              <a:rPr lang="en-US" sz="1000" dirty="0" err="1"/>
              <a:t>graumelierte</a:t>
            </a:r>
            <a:r>
              <a:rPr lang="en-US" sz="1000" dirty="0"/>
              <a:t> </a:t>
            </a:r>
            <a:r>
              <a:rPr lang="en-US" sz="1000" dirty="0" err="1"/>
              <a:t>Schläfen</a:t>
            </a:r>
            <a:r>
              <a:rPr lang="en-US" sz="1000" dirty="0"/>
              <a:t>, </a:t>
            </a:r>
            <a:r>
              <a:rPr lang="en-US" sz="1000" dirty="0" err="1"/>
              <a:t>bayerisch-verführerischer</a:t>
            </a:r>
            <a:r>
              <a:rPr lang="en-US" sz="1000" dirty="0"/>
              <a:t> </a:t>
            </a:r>
            <a:r>
              <a:rPr lang="en-US" sz="1000" dirty="0" err="1"/>
              <a:t>Akzent</a:t>
            </a:r>
            <a:endParaRPr lang="en-US" sz="1000" dirty="0"/>
          </a:p>
          <a:p>
            <a:r>
              <a:rPr lang="en-US" sz="1000" dirty="0" err="1"/>
              <a:t>Persönlichkeit</a:t>
            </a:r>
            <a:r>
              <a:rPr lang="en-US" sz="1000" dirty="0"/>
              <a:t>: </a:t>
            </a:r>
            <a:r>
              <a:rPr lang="en-US" sz="1000" dirty="0" err="1"/>
              <a:t>Weltgewandt</a:t>
            </a:r>
            <a:r>
              <a:rPr lang="en-US" sz="1000" dirty="0"/>
              <a:t>, </a:t>
            </a:r>
            <a:r>
              <a:rPr lang="en-US" sz="1000" dirty="0" err="1"/>
              <a:t>kennt</a:t>
            </a:r>
            <a:r>
              <a:rPr lang="en-US" sz="1000" dirty="0"/>
              <a:t> </a:t>
            </a:r>
            <a:r>
              <a:rPr lang="en-US" sz="1000" dirty="0" err="1"/>
              <a:t>jeden</a:t>
            </a:r>
            <a:r>
              <a:rPr lang="en-US" sz="1000" dirty="0"/>
              <a:t> </a:t>
            </a:r>
            <a:r>
              <a:rPr lang="en-US" sz="1000" dirty="0" err="1"/>
              <a:t>Klatsch</a:t>
            </a:r>
            <a:r>
              <a:rPr lang="en-US" sz="1000" dirty="0"/>
              <a:t>, </a:t>
            </a:r>
            <a:r>
              <a:rPr lang="en-US" sz="1000" dirty="0" err="1"/>
              <a:t>professionell</a:t>
            </a:r>
            <a:r>
              <a:rPr lang="en-US" sz="1000" dirty="0"/>
              <a:t> </a:t>
            </a:r>
            <a:r>
              <a:rPr lang="en-US" sz="1000" dirty="0" err="1"/>
              <a:t>diskret</a:t>
            </a:r>
            <a:r>
              <a:rPr lang="en-US" sz="1000" dirty="0"/>
              <a:t>, “mag” </a:t>
            </a:r>
            <a:r>
              <a:rPr lang="en-US" sz="1000" dirty="0" err="1"/>
              <a:t>beide</a:t>
            </a:r>
            <a:r>
              <a:rPr lang="en-US" sz="1000" dirty="0"/>
              <a:t> </a:t>
            </a:r>
            <a:r>
              <a:rPr lang="en-US" sz="1000" dirty="0" err="1"/>
              <a:t>Geschlechter</a:t>
            </a:r>
            <a:endParaRPr lang="en-US" sz="1000" dirty="0"/>
          </a:p>
          <a:p>
            <a:r>
              <a:rPr lang="en-US" sz="1000" dirty="0" err="1"/>
              <a:t>Geheimnis</a:t>
            </a:r>
            <a:r>
              <a:rPr lang="en-US" sz="1000" dirty="0"/>
              <a:t>: </a:t>
            </a:r>
            <a:r>
              <a:rPr lang="en-US" sz="1000" dirty="0" err="1"/>
              <a:t>Erpresst</a:t>
            </a:r>
            <a:r>
              <a:rPr lang="en-US" sz="1000" dirty="0"/>
              <a:t> </a:t>
            </a:r>
            <a:r>
              <a:rPr lang="en-US" sz="1000" dirty="0" err="1"/>
              <a:t>heimlich</a:t>
            </a:r>
            <a:r>
              <a:rPr lang="en-US" sz="1000" dirty="0"/>
              <a:t> </a:t>
            </a:r>
            <a:r>
              <a:rPr lang="en-US" sz="1000" dirty="0" err="1"/>
              <a:t>mehrere</a:t>
            </a:r>
            <a:r>
              <a:rPr lang="en-US" sz="1000" dirty="0"/>
              <a:t> seiner </a:t>
            </a:r>
            <a:r>
              <a:rPr lang="en-US" sz="1000" dirty="0" err="1"/>
              <a:t>Klientinnen</a:t>
            </a:r>
            <a:r>
              <a:rPr lang="en-US" sz="1000" dirty="0"/>
              <a:t> und </a:t>
            </a:r>
            <a:r>
              <a:rPr lang="en-US" sz="1000" dirty="0" err="1"/>
              <a:t>Klienten</a:t>
            </a:r>
            <a:r>
              <a:rPr lang="en-US" sz="1000" dirty="0"/>
              <a:t>. Eine </a:t>
            </a:r>
            <a:r>
              <a:rPr lang="en-US" sz="1000" dirty="0" err="1"/>
              <a:t>ehemalige</a:t>
            </a:r>
            <a:r>
              <a:rPr lang="en-US" sz="1000" dirty="0"/>
              <a:t> </a:t>
            </a:r>
            <a:r>
              <a:rPr lang="en-US" sz="1000" dirty="0" err="1"/>
              <a:t>Klientin</a:t>
            </a:r>
            <a:r>
              <a:rPr lang="en-US" sz="1000" dirty="0"/>
              <a:t> </a:t>
            </a:r>
            <a:r>
              <a:rPr lang="en-US" sz="1000" dirty="0" err="1"/>
              <a:t>ist</a:t>
            </a:r>
            <a:r>
              <a:rPr lang="en-US" sz="1000" dirty="0"/>
              <a:t> </a:t>
            </a:r>
            <a:r>
              <a:rPr lang="en-US" sz="1000" dirty="0" err="1"/>
              <a:t>heute</a:t>
            </a:r>
            <a:r>
              <a:rPr lang="en-US" sz="1000" dirty="0"/>
              <a:t> </a:t>
            </a:r>
            <a:r>
              <a:rPr lang="en-US" sz="1000" dirty="0" err="1"/>
              <a:t>auch</a:t>
            </a:r>
            <a:r>
              <a:rPr lang="en-US" sz="1000" dirty="0"/>
              <a:t> </a:t>
            </a:r>
            <a:r>
              <a:rPr lang="en-US" sz="1000" dirty="0" err="1"/>
              <a:t>hier</a:t>
            </a:r>
            <a:r>
              <a:rPr lang="en-US" sz="1000" dirty="0"/>
              <a:t>.</a:t>
            </a:r>
          </a:p>
          <a:p>
            <a:r>
              <a:rPr lang="en-US" sz="1000" dirty="0" err="1"/>
              <a:t>Warum</a:t>
            </a:r>
            <a:r>
              <a:rPr lang="en-US" sz="1000" dirty="0"/>
              <a:t> </a:t>
            </a:r>
            <a:r>
              <a:rPr lang="en-US" sz="1000" dirty="0" err="1"/>
              <a:t>hier</a:t>
            </a:r>
            <a:r>
              <a:rPr lang="en-US" sz="1000" dirty="0"/>
              <a:t>: </a:t>
            </a:r>
            <a:r>
              <a:rPr lang="en-US" sz="1000" dirty="0" err="1"/>
              <a:t>Urlaub</a:t>
            </a:r>
            <a:r>
              <a:rPr lang="en-US" sz="1000" dirty="0"/>
              <a:t> </a:t>
            </a:r>
            <a:r>
              <a:rPr lang="en-US" sz="1000" dirty="0" err="1"/>
              <a:t>vom</a:t>
            </a:r>
            <a:r>
              <a:rPr lang="en-US" sz="1000" dirty="0"/>
              <a:t> </a:t>
            </a:r>
            <a:r>
              <a:rPr lang="en-US" sz="1000" dirty="0" err="1"/>
              <a:t>anstrengendem</a:t>
            </a:r>
            <a:r>
              <a:rPr lang="en-US" sz="1000" dirty="0"/>
              <a:t> Job und will </a:t>
            </a:r>
            <a:r>
              <a:rPr lang="en-US" sz="1000" dirty="0" err="1"/>
              <a:t>entspannen</a:t>
            </a:r>
            <a:endParaRPr lang="en-US" sz="1000" dirty="0"/>
          </a:p>
          <a:p>
            <a:endParaRPr lang="en-US" sz="1000" dirty="0"/>
          </a:p>
          <a:p>
            <a:r>
              <a:rPr lang="en-US" sz="1000" dirty="0"/>
              <a:t>Alexa Steinberg (31) - Tech-</a:t>
            </a:r>
            <a:r>
              <a:rPr lang="en-US" sz="1000" dirty="0" err="1"/>
              <a:t>Entrepreneurin</a:t>
            </a:r>
            <a:r>
              <a:rPr lang="en-US" sz="1000" dirty="0"/>
              <a:t> (Nicole)</a:t>
            </a:r>
          </a:p>
          <a:p>
            <a:r>
              <a:rPr lang="en-US" sz="1000" dirty="0" err="1"/>
              <a:t>Beruf</a:t>
            </a:r>
            <a:r>
              <a:rPr lang="en-US" sz="1000" dirty="0"/>
              <a:t>: </a:t>
            </a:r>
            <a:r>
              <a:rPr lang="en-US" sz="1000" dirty="0" err="1"/>
              <a:t>Gründerin</a:t>
            </a:r>
            <a:r>
              <a:rPr lang="en-US" sz="1000" dirty="0"/>
              <a:t> </a:t>
            </a:r>
            <a:r>
              <a:rPr lang="en-US" sz="1000" dirty="0" err="1"/>
              <a:t>eines</a:t>
            </a:r>
            <a:r>
              <a:rPr lang="en-US" sz="1000" dirty="0"/>
              <a:t> KI-Startup </a:t>
            </a:r>
            <a:r>
              <a:rPr lang="en-US" sz="1000" dirty="0" err="1"/>
              <a:t>für</a:t>
            </a:r>
            <a:r>
              <a:rPr lang="en-US" sz="1000" dirty="0"/>
              <a:t> </a:t>
            </a:r>
            <a:r>
              <a:rPr lang="en-US" sz="1000" dirty="0" err="1"/>
              <a:t>Hotelautomatisierung</a:t>
            </a:r>
            <a:endParaRPr lang="en-US" sz="1000" dirty="0"/>
          </a:p>
          <a:p>
            <a:r>
              <a:rPr lang="en-US" sz="1000" dirty="0" err="1"/>
              <a:t>Äußeres</a:t>
            </a:r>
            <a:r>
              <a:rPr lang="en-US" sz="1000" dirty="0"/>
              <a:t>: Hoodie, Sneaker, </a:t>
            </a:r>
            <a:r>
              <a:rPr lang="en-US" sz="1000" dirty="0" err="1"/>
              <a:t>wirkt</a:t>
            </a:r>
            <a:r>
              <a:rPr lang="en-US" sz="1000" dirty="0"/>
              <a:t> </a:t>
            </a:r>
            <a:r>
              <a:rPr lang="en-US" sz="1000" dirty="0" err="1"/>
              <a:t>deplatziert</a:t>
            </a:r>
            <a:r>
              <a:rPr lang="en-US" sz="1000" dirty="0"/>
              <a:t> in der </a:t>
            </a:r>
            <a:r>
              <a:rPr lang="en-US" sz="1000" dirty="0" err="1"/>
              <a:t>Alpenlodge</a:t>
            </a:r>
            <a:endParaRPr lang="en-US" sz="1000" dirty="0"/>
          </a:p>
          <a:p>
            <a:r>
              <a:rPr lang="en-US" sz="1000" dirty="0" err="1"/>
              <a:t>Persönlichkeit</a:t>
            </a:r>
            <a:r>
              <a:rPr lang="en-US" sz="1000" dirty="0"/>
              <a:t>: </a:t>
            </a:r>
            <a:r>
              <a:rPr lang="en-US" sz="1000" dirty="0" err="1"/>
              <a:t>Nervös</a:t>
            </a:r>
            <a:r>
              <a:rPr lang="en-US" sz="1000" dirty="0"/>
              <a:t>, </a:t>
            </a:r>
            <a:r>
              <a:rPr lang="en-US" sz="1000" dirty="0" err="1"/>
              <a:t>redet</a:t>
            </a:r>
            <a:r>
              <a:rPr lang="en-US" sz="1000" dirty="0"/>
              <a:t> </a:t>
            </a:r>
            <a:r>
              <a:rPr lang="en-US" sz="1000" dirty="0" err="1"/>
              <a:t>zu</a:t>
            </a:r>
            <a:r>
              <a:rPr lang="en-US" sz="1000" dirty="0"/>
              <a:t> </a:t>
            </a:r>
            <a:r>
              <a:rPr lang="en-US" sz="1000" dirty="0" err="1"/>
              <a:t>viel</a:t>
            </a:r>
            <a:r>
              <a:rPr lang="en-US" sz="1000" dirty="0"/>
              <a:t> </a:t>
            </a:r>
            <a:r>
              <a:rPr lang="en-US" sz="1000" dirty="0" err="1"/>
              <a:t>wenn</a:t>
            </a:r>
            <a:r>
              <a:rPr lang="en-US" sz="1000" dirty="0"/>
              <a:t> </a:t>
            </a:r>
            <a:r>
              <a:rPr lang="en-US" sz="1000" dirty="0" err="1"/>
              <a:t>aufgeregt</a:t>
            </a:r>
            <a:r>
              <a:rPr lang="en-US" sz="1000" dirty="0"/>
              <a:t>, </a:t>
            </a:r>
            <a:r>
              <a:rPr lang="en-US" sz="1000" dirty="0" err="1"/>
              <a:t>brillant</a:t>
            </a:r>
            <a:r>
              <a:rPr lang="en-US" sz="1000" dirty="0"/>
              <a:t> </a:t>
            </a:r>
            <a:r>
              <a:rPr lang="en-US" sz="1000" dirty="0" err="1"/>
              <a:t>Geheimnis</a:t>
            </a:r>
            <a:r>
              <a:rPr lang="en-US" sz="1000" dirty="0"/>
              <a:t>: </a:t>
            </a:r>
            <a:r>
              <a:rPr lang="en-US" sz="1000" dirty="0" err="1"/>
              <a:t>Ihre</a:t>
            </a:r>
            <a:r>
              <a:rPr lang="en-US" sz="1000" dirty="0"/>
              <a:t> </a:t>
            </a:r>
            <a:r>
              <a:rPr lang="en-US" sz="1000" dirty="0" err="1"/>
              <a:t>Firma</a:t>
            </a:r>
            <a:r>
              <a:rPr lang="en-US" sz="1000" dirty="0"/>
              <a:t> </a:t>
            </a:r>
            <a:r>
              <a:rPr lang="en-US" sz="1000" dirty="0" err="1"/>
              <a:t>steht</a:t>
            </a:r>
            <a:r>
              <a:rPr lang="en-US" sz="1000" dirty="0"/>
              <a:t> </a:t>
            </a:r>
            <a:r>
              <a:rPr lang="en-US" sz="1000" dirty="0" err="1"/>
              <a:t>vor</a:t>
            </a:r>
            <a:r>
              <a:rPr lang="en-US" sz="1000" dirty="0"/>
              <a:t> der </a:t>
            </a:r>
            <a:r>
              <a:rPr lang="en-US" sz="1000" dirty="0" err="1"/>
              <a:t>Insolvenz</a:t>
            </a:r>
            <a:endParaRPr lang="en-US" sz="1000" dirty="0"/>
          </a:p>
          <a:p>
            <a:r>
              <a:rPr lang="en-US" sz="1000" dirty="0" err="1"/>
              <a:t>Warum</a:t>
            </a:r>
            <a:r>
              <a:rPr lang="en-US" sz="1000" dirty="0"/>
              <a:t> </a:t>
            </a:r>
            <a:r>
              <a:rPr lang="en-US" sz="1000" dirty="0" err="1"/>
              <a:t>hier</a:t>
            </a:r>
            <a:r>
              <a:rPr lang="en-US" sz="1000" dirty="0"/>
              <a:t>: Will das Hotel </a:t>
            </a:r>
            <a:r>
              <a:rPr lang="en-US" sz="1000" dirty="0" err="1"/>
              <a:t>als</a:t>
            </a:r>
            <a:r>
              <a:rPr lang="en-US" sz="1000" dirty="0"/>
              <a:t> Pilot-</a:t>
            </a:r>
            <a:r>
              <a:rPr lang="en-US" sz="1000" dirty="0" err="1"/>
              <a:t>Projekt</a:t>
            </a:r>
            <a:r>
              <a:rPr lang="en-US" sz="1000" dirty="0"/>
              <a:t> </a:t>
            </a:r>
            <a:r>
              <a:rPr lang="en-US" sz="1000" dirty="0" err="1"/>
              <a:t>für</a:t>
            </a:r>
            <a:r>
              <a:rPr lang="en-US" sz="1000" dirty="0"/>
              <a:t> </a:t>
            </a:r>
            <a:r>
              <a:rPr lang="en-US" sz="1000" dirty="0" err="1"/>
              <a:t>ihre</a:t>
            </a:r>
            <a:r>
              <a:rPr lang="en-US" sz="1000" dirty="0"/>
              <a:t> KI </a:t>
            </a:r>
            <a:r>
              <a:rPr lang="en-US" sz="1000" dirty="0" err="1"/>
              <a:t>gewinnen</a:t>
            </a:r>
            <a:endParaRPr lang="en-US" sz="1000" dirty="0"/>
          </a:p>
          <a:p>
            <a:endParaRPr lang="en-US" sz="1000" dirty="0"/>
          </a:p>
          <a:p>
            <a:r>
              <a:rPr lang="en-US" sz="1000" dirty="0"/>
              <a:t>Viktoria Lang (48) - </a:t>
            </a:r>
            <a:r>
              <a:rPr lang="en-US" sz="1000" dirty="0" err="1"/>
              <a:t>Bürgermeisterin</a:t>
            </a:r>
            <a:r>
              <a:rPr lang="en-US" sz="1000" dirty="0"/>
              <a:t> (Olga)</a:t>
            </a:r>
          </a:p>
          <a:p>
            <a:r>
              <a:rPr lang="en-US" sz="1000" dirty="0" err="1"/>
              <a:t>Beruf</a:t>
            </a:r>
            <a:r>
              <a:rPr lang="en-US" sz="1000" dirty="0"/>
              <a:t>: </a:t>
            </a:r>
            <a:r>
              <a:rPr lang="en-US" sz="1000" dirty="0" err="1"/>
              <a:t>Erste</a:t>
            </a:r>
            <a:r>
              <a:rPr lang="en-US" sz="1000" dirty="0"/>
              <a:t> </a:t>
            </a:r>
            <a:r>
              <a:rPr lang="en-US" sz="1000" dirty="0" err="1"/>
              <a:t>Bürgermeisterin</a:t>
            </a:r>
            <a:r>
              <a:rPr lang="en-US" sz="1000" dirty="0"/>
              <a:t> des </a:t>
            </a:r>
            <a:r>
              <a:rPr lang="en-US" sz="1000" dirty="0" err="1"/>
              <a:t>Tals</a:t>
            </a:r>
            <a:endParaRPr lang="en-US" sz="1000" dirty="0"/>
          </a:p>
          <a:p>
            <a:r>
              <a:rPr lang="en-US" sz="1000" dirty="0" err="1"/>
              <a:t>Äußeres</a:t>
            </a:r>
            <a:r>
              <a:rPr lang="en-US" sz="1000" dirty="0"/>
              <a:t>: </a:t>
            </a:r>
            <a:r>
              <a:rPr lang="en-US" sz="1000" dirty="0" err="1"/>
              <a:t>Konservativ</a:t>
            </a:r>
            <a:r>
              <a:rPr lang="en-US" sz="1000" dirty="0"/>
              <a:t>-elegant, </a:t>
            </a:r>
            <a:r>
              <a:rPr lang="en-US" sz="1000" dirty="0" err="1"/>
              <a:t>Perlenkette</a:t>
            </a:r>
            <a:r>
              <a:rPr lang="en-US" sz="1000" dirty="0"/>
              <a:t>, </a:t>
            </a:r>
            <a:r>
              <a:rPr lang="en-US" sz="1000" dirty="0" err="1"/>
              <a:t>strenge</a:t>
            </a:r>
            <a:r>
              <a:rPr lang="en-US" sz="1000" dirty="0"/>
              <a:t> </a:t>
            </a:r>
            <a:r>
              <a:rPr lang="en-US" sz="1000" dirty="0" err="1"/>
              <a:t>Frisur</a:t>
            </a:r>
            <a:r>
              <a:rPr lang="en-US" sz="1000" dirty="0"/>
              <a:t>, du </a:t>
            </a:r>
            <a:r>
              <a:rPr lang="en-US" sz="1000" dirty="0" err="1"/>
              <a:t>kannst</a:t>
            </a:r>
            <a:r>
              <a:rPr lang="en-US" sz="1000" dirty="0"/>
              <a:t> es </a:t>
            </a:r>
            <a:r>
              <a:rPr lang="en-US" sz="1000" dirty="0" err="1"/>
              <a:t>überhaupt</a:t>
            </a:r>
            <a:r>
              <a:rPr lang="en-US" sz="1000" dirty="0"/>
              <a:t> </a:t>
            </a:r>
            <a:r>
              <a:rPr lang="en-US" sz="1000" dirty="0" err="1"/>
              <a:t>nicht</a:t>
            </a:r>
            <a:r>
              <a:rPr lang="en-US" sz="1000" dirty="0"/>
              <a:t> </a:t>
            </a:r>
            <a:r>
              <a:rPr lang="en-US" sz="1000" dirty="0" err="1"/>
              <a:t>leiden</a:t>
            </a:r>
            <a:r>
              <a:rPr lang="en-US" sz="1000" dirty="0"/>
              <a:t> </a:t>
            </a:r>
            <a:r>
              <a:rPr lang="en-US" sz="1000" dirty="0" err="1"/>
              <a:t>wenn</a:t>
            </a:r>
            <a:r>
              <a:rPr lang="en-US" sz="1000" dirty="0"/>
              <a:t> dich </a:t>
            </a:r>
            <a:r>
              <a:rPr lang="en-US" sz="1000" dirty="0" err="1"/>
              <a:t>jemand</a:t>
            </a:r>
            <a:r>
              <a:rPr lang="en-US" sz="1000" dirty="0"/>
              <a:t> </a:t>
            </a:r>
            <a:r>
              <a:rPr lang="en-US" sz="1000" dirty="0" err="1"/>
              <a:t>irgendwo</a:t>
            </a:r>
            <a:r>
              <a:rPr lang="en-US" sz="1000" dirty="0"/>
              <a:t> </a:t>
            </a:r>
            <a:r>
              <a:rPr lang="en-US" sz="1000" dirty="0" err="1"/>
              <a:t>berührt</a:t>
            </a:r>
            <a:r>
              <a:rPr lang="en-US" sz="1000" dirty="0"/>
              <a:t>/</a:t>
            </a:r>
            <a:r>
              <a:rPr lang="en-US" sz="1000" dirty="0" err="1"/>
              <a:t>oder</a:t>
            </a:r>
            <a:r>
              <a:rPr lang="en-US" sz="1000" dirty="0"/>
              <a:t> </a:t>
            </a:r>
            <a:r>
              <a:rPr lang="en-US" sz="1000" dirty="0" err="1"/>
              <a:t>Körperkontakt</a:t>
            </a:r>
            <a:r>
              <a:rPr lang="en-US" sz="1000" dirty="0"/>
              <a:t> </a:t>
            </a:r>
            <a:r>
              <a:rPr lang="en-US" sz="1000" dirty="0" err="1"/>
              <a:t>sucht</a:t>
            </a:r>
            <a:r>
              <a:rPr lang="en-US" sz="1000" dirty="0"/>
              <a:t>.</a:t>
            </a:r>
          </a:p>
          <a:p>
            <a:r>
              <a:rPr lang="en-US" sz="1000" dirty="0" err="1"/>
              <a:t>Persönlichkeit</a:t>
            </a:r>
            <a:r>
              <a:rPr lang="en-US" sz="1000" dirty="0"/>
              <a:t>: </a:t>
            </a:r>
            <a:r>
              <a:rPr lang="en-US" sz="1000" dirty="0" err="1"/>
              <a:t>Autoritär</a:t>
            </a:r>
            <a:r>
              <a:rPr lang="en-US" sz="1000" dirty="0"/>
              <a:t>, </a:t>
            </a:r>
            <a:r>
              <a:rPr lang="en-US" sz="1000" dirty="0" err="1"/>
              <a:t>politisch</a:t>
            </a:r>
            <a:r>
              <a:rPr lang="en-US" sz="1000" dirty="0"/>
              <a:t> </a:t>
            </a:r>
            <a:r>
              <a:rPr lang="en-US" sz="1000" dirty="0" err="1"/>
              <a:t>geschickt</a:t>
            </a:r>
            <a:r>
              <a:rPr lang="en-US" sz="1000" dirty="0"/>
              <a:t>, </a:t>
            </a:r>
            <a:r>
              <a:rPr lang="en-US" sz="1000" dirty="0" err="1"/>
              <a:t>kämpft</a:t>
            </a:r>
            <a:r>
              <a:rPr lang="en-US" sz="1000" dirty="0"/>
              <a:t> </a:t>
            </a:r>
            <a:r>
              <a:rPr lang="en-US" sz="1000" dirty="0" err="1"/>
              <a:t>für</a:t>
            </a:r>
            <a:r>
              <a:rPr lang="en-US" sz="1000" dirty="0"/>
              <a:t> </a:t>
            </a:r>
            <a:r>
              <a:rPr lang="en-US" sz="1000" dirty="0" err="1"/>
              <a:t>ihre</a:t>
            </a:r>
            <a:r>
              <a:rPr lang="en-US" sz="1000" dirty="0"/>
              <a:t> Region</a:t>
            </a:r>
          </a:p>
          <a:p>
            <a:r>
              <a:rPr lang="en-US" sz="1000" dirty="0" err="1"/>
              <a:t>Geheimnis</a:t>
            </a:r>
            <a:r>
              <a:rPr lang="en-US" sz="1000" dirty="0"/>
              <a:t>: Hat Gelder </a:t>
            </a:r>
            <a:r>
              <a:rPr lang="en-US" sz="1000" dirty="0" err="1"/>
              <a:t>veruntreut</a:t>
            </a:r>
            <a:r>
              <a:rPr lang="en-US" sz="1000" dirty="0"/>
              <a:t> </a:t>
            </a:r>
            <a:r>
              <a:rPr lang="en-US" sz="1000" dirty="0" err="1"/>
              <a:t>für</a:t>
            </a:r>
            <a:r>
              <a:rPr lang="en-US" sz="1000" dirty="0"/>
              <a:t> </a:t>
            </a:r>
            <a:r>
              <a:rPr lang="en-US" sz="1000" dirty="0" err="1"/>
              <a:t>ihre</a:t>
            </a:r>
            <a:r>
              <a:rPr lang="en-US" sz="1000" dirty="0"/>
              <a:t> </a:t>
            </a:r>
            <a:r>
              <a:rPr lang="en-US" sz="1000" dirty="0" err="1"/>
              <a:t>Wiederwahl</a:t>
            </a:r>
            <a:r>
              <a:rPr lang="en-US" sz="1000" dirty="0"/>
              <a:t> und </a:t>
            </a:r>
            <a:r>
              <a:rPr lang="en-US" sz="1000" dirty="0" err="1"/>
              <a:t>kann</a:t>
            </a:r>
            <a:r>
              <a:rPr lang="en-US" sz="1000" dirty="0"/>
              <a:t> </a:t>
            </a:r>
            <a:r>
              <a:rPr lang="en-US" sz="1000" dirty="0" err="1"/>
              <a:t>Vegetarier</a:t>
            </a:r>
            <a:r>
              <a:rPr lang="en-US" sz="1000" dirty="0"/>
              <a:t> und </a:t>
            </a:r>
            <a:r>
              <a:rPr lang="en-US" sz="1000" dirty="0" err="1"/>
              <a:t>Veganer</a:t>
            </a:r>
            <a:r>
              <a:rPr lang="en-US" sz="1000" dirty="0"/>
              <a:t> </a:t>
            </a:r>
            <a:r>
              <a:rPr lang="en-US" sz="1000" dirty="0" err="1"/>
              <a:t>nicht</a:t>
            </a:r>
            <a:r>
              <a:rPr lang="en-US" sz="1000" dirty="0"/>
              <a:t> </a:t>
            </a:r>
            <a:r>
              <a:rPr lang="en-US" sz="1000" dirty="0" err="1"/>
              <a:t>leiden</a:t>
            </a:r>
            <a:endParaRPr lang="en-US" sz="1000" dirty="0"/>
          </a:p>
          <a:p>
            <a:r>
              <a:rPr lang="en-US" sz="1000" dirty="0" err="1"/>
              <a:t>Warum</a:t>
            </a:r>
            <a:r>
              <a:rPr lang="en-US" sz="1000" dirty="0"/>
              <a:t> </a:t>
            </a:r>
            <a:r>
              <a:rPr lang="en-US" sz="1000" dirty="0" err="1"/>
              <a:t>hier</a:t>
            </a:r>
            <a:r>
              <a:rPr lang="en-US" sz="1000" dirty="0"/>
              <a:t>: Das Hotel </a:t>
            </a:r>
            <a:r>
              <a:rPr lang="en-US" sz="1000" dirty="0" err="1"/>
              <a:t>ist</a:t>
            </a:r>
            <a:r>
              <a:rPr lang="en-US" sz="1000" dirty="0"/>
              <a:t> </a:t>
            </a:r>
            <a:r>
              <a:rPr lang="en-US" sz="1000" dirty="0" err="1"/>
              <a:t>wichtig</a:t>
            </a:r>
            <a:r>
              <a:rPr lang="en-US" sz="1000" dirty="0"/>
              <a:t> </a:t>
            </a:r>
            <a:r>
              <a:rPr lang="en-US" sz="1000" dirty="0" err="1"/>
              <a:t>für</a:t>
            </a:r>
            <a:r>
              <a:rPr lang="en-US" sz="1000" dirty="0"/>
              <a:t> die Gemeinde-</a:t>
            </a:r>
            <a:r>
              <a:rPr lang="en-US" sz="1000" dirty="0" err="1"/>
              <a:t>Wirtschaft</a:t>
            </a:r>
            <a:endParaRPr lang="en-US" sz="1000" dirty="0"/>
          </a:p>
          <a:p>
            <a:endParaRPr lang="en-US" sz="1000" dirty="0"/>
          </a:p>
          <a:p>
            <a:r>
              <a:rPr lang="en-US" sz="1000" dirty="0"/>
              <a:t>Pater Antonio Benedetti (55) - Priester (</a:t>
            </a:r>
            <a:r>
              <a:rPr lang="en-US" sz="1000" dirty="0" err="1"/>
              <a:t>stefan</a:t>
            </a:r>
            <a:r>
              <a:rPr lang="en-US" sz="1000" dirty="0"/>
              <a:t>)</a:t>
            </a:r>
          </a:p>
          <a:p>
            <a:r>
              <a:rPr lang="en-US" sz="1000" dirty="0" err="1"/>
              <a:t>Beruf</a:t>
            </a:r>
            <a:r>
              <a:rPr lang="en-US" sz="1000" dirty="0"/>
              <a:t>: </a:t>
            </a:r>
            <a:r>
              <a:rPr lang="en-US" sz="1000" dirty="0" err="1"/>
              <a:t>Wanderpriester</a:t>
            </a:r>
            <a:r>
              <a:rPr lang="en-US" sz="1000" dirty="0"/>
              <a:t>, </a:t>
            </a:r>
            <a:r>
              <a:rPr lang="en-US" sz="1000" dirty="0" err="1"/>
              <a:t>spezialisiert</a:t>
            </a:r>
            <a:r>
              <a:rPr lang="en-US" sz="1000" dirty="0"/>
              <a:t> auf "spirituelle </a:t>
            </a:r>
            <a:r>
              <a:rPr lang="en-US" sz="1000" dirty="0" err="1"/>
              <a:t>Reinigungen</a:t>
            </a:r>
            <a:r>
              <a:rPr lang="en-US" sz="1000" dirty="0"/>
              <a:t>"</a:t>
            </a:r>
          </a:p>
          <a:p>
            <a:r>
              <a:rPr lang="en-US" sz="1000" dirty="0" err="1"/>
              <a:t>Äußeres</a:t>
            </a:r>
            <a:r>
              <a:rPr lang="en-US" sz="1000" dirty="0"/>
              <a:t>: </a:t>
            </a:r>
            <a:r>
              <a:rPr lang="en-US" sz="1000" dirty="0" err="1"/>
              <a:t>Schwarze</a:t>
            </a:r>
            <a:r>
              <a:rPr lang="en-US" sz="1000" dirty="0"/>
              <a:t> Soutane, </a:t>
            </a:r>
            <a:r>
              <a:rPr lang="en-US" sz="1000" dirty="0" err="1"/>
              <a:t>graue</a:t>
            </a:r>
            <a:r>
              <a:rPr lang="en-US" sz="1000" dirty="0"/>
              <a:t> </a:t>
            </a:r>
            <a:r>
              <a:rPr lang="en-US" sz="1000" dirty="0" err="1"/>
              <a:t>Strähnen</a:t>
            </a:r>
            <a:r>
              <a:rPr lang="en-US" sz="1000" dirty="0"/>
              <a:t>, </a:t>
            </a:r>
            <a:r>
              <a:rPr lang="en-US" sz="1000" dirty="0" err="1"/>
              <a:t>müde</a:t>
            </a:r>
            <a:r>
              <a:rPr lang="en-US" sz="1000" dirty="0"/>
              <a:t> </a:t>
            </a:r>
            <a:r>
              <a:rPr lang="en-US" sz="1000" dirty="0" err="1"/>
              <a:t>aber</a:t>
            </a:r>
            <a:r>
              <a:rPr lang="en-US" sz="1000" dirty="0"/>
              <a:t> </a:t>
            </a:r>
            <a:r>
              <a:rPr lang="en-US" sz="1000" dirty="0" err="1"/>
              <a:t>durchdringende</a:t>
            </a:r>
            <a:r>
              <a:rPr lang="en-US" sz="1000" dirty="0"/>
              <a:t> </a:t>
            </a:r>
            <a:r>
              <a:rPr lang="en-US" sz="1000" dirty="0" err="1"/>
              <a:t>Augen</a:t>
            </a:r>
            <a:r>
              <a:rPr lang="en-US" sz="1000" dirty="0"/>
              <a:t>, </a:t>
            </a:r>
            <a:r>
              <a:rPr lang="en-US" sz="1000" dirty="0" err="1"/>
              <a:t>trägt</a:t>
            </a:r>
            <a:r>
              <a:rPr lang="en-US" sz="1000" dirty="0"/>
              <a:t> stets </a:t>
            </a:r>
            <a:r>
              <a:rPr lang="en-US" sz="1000" dirty="0" err="1"/>
              <a:t>ein</a:t>
            </a:r>
            <a:r>
              <a:rPr lang="en-US" sz="1000" dirty="0"/>
              <a:t> </a:t>
            </a:r>
            <a:r>
              <a:rPr lang="en-US" sz="1000" dirty="0" err="1"/>
              <a:t>altes</a:t>
            </a:r>
            <a:r>
              <a:rPr lang="en-US" sz="1000" dirty="0"/>
              <a:t> </a:t>
            </a:r>
            <a:r>
              <a:rPr lang="en-US" sz="1000" dirty="0" err="1"/>
              <a:t>Silberkreuz</a:t>
            </a:r>
            <a:endParaRPr lang="en-US" sz="1000" dirty="0"/>
          </a:p>
          <a:p>
            <a:r>
              <a:rPr lang="en-US" sz="1000" dirty="0" err="1"/>
              <a:t>Persönlichkeit</a:t>
            </a:r>
            <a:r>
              <a:rPr lang="en-US" sz="1000" dirty="0"/>
              <a:t>: </a:t>
            </a:r>
            <a:r>
              <a:rPr lang="en-US" sz="1000" dirty="0" err="1"/>
              <a:t>Ruhig</a:t>
            </a:r>
            <a:r>
              <a:rPr lang="en-US" sz="1000" dirty="0"/>
              <a:t>, </a:t>
            </a:r>
            <a:r>
              <a:rPr lang="en-US" sz="1000" dirty="0" err="1"/>
              <a:t>beobachtend</a:t>
            </a:r>
            <a:r>
              <a:rPr lang="en-US" sz="1000" dirty="0"/>
              <a:t>, </a:t>
            </a:r>
            <a:r>
              <a:rPr lang="en-US" sz="1000" dirty="0" err="1"/>
              <a:t>spricht</a:t>
            </a:r>
            <a:r>
              <a:rPr lang="en-US" sz="1000" dirty="0"/>
              <a:t> </a:t>
            </a:r>
            <a:r>
              <a:rPr lang="en-US" sz="1000" dirty="0" err="1"/>
              <a:t>leise</a:t>
            </a:r>
            <a:r>
              <a:rPr lang="en-US" sz="1000" dirty="0"/>
              <a:t> </a:t>
            </a:r>
            <a:r>
              <a:rPr lang="en-US" sz="1000" dirty="0" err="1"/>
              <a:t>aber</a:t>
            </a:r>
            <a:r>
              <a:rPr lang="en-US" sz="1000" dirty="0"/>
              <a:t> </a:t>
            </a:r>
            <a:r>
              <a:rPr lang="en-US" sz="1000" dirty="0" err="1"/>
              <a:t>bestimmt</a:t>
            </a:r>
            <a:r>
              <a:rPr lang="en-US" sz="1000" dirty="0"/>
              <a:t>, </a:t>
            </a:r>
            <a:r>
              <a:rPr lang="en-US" sz="1000" dirty="0" err="1"/>
              <a:t>trinkt</a:t>
            </a:r>
            <a:r>
              <a:rPr lang="en-US" sz="1000" dirty="0"/>
              <a:t> gerne Wein</a:t>
            </a:r>
          </a:p>
          <a:p>
            <a:r>
              <a:rPr lang="en-US" sz="1000" dirty="0" err="1"/>
              <a:t>Geheimnis</a:t>
            </a:r>
            <a:r>
              <a:rPr lang="en-US" sz="1000" dirty="0"/>
              <a:t>: </a:t>
            </a:r>
            <a:r>
              <a:rPr lang="en-US" sz="1000" dirty="0" err="1"/>
              <a:t>Wurde</a:t>
            </a:r>
            <a:r>
              <a:rPr lang="en-US" sz="1000" dirty="0"/>
              <a:t> von der </a:t>
            </a:r>
            <a:r>
              <a:rPr lang="en-US" sz="1000" dirty="0" err="1"/>
              <a:t>Kirche</a:t>
            </a:r>
            <a:r>
              <a:rPr lang="en-US" sz="1000" dirty="0"/>
              <a:t> "</a:t>
            </a:r>
            <a:r>
              <a:rPr lang="en-US" sz="1000" dirty="0" err="1"/>
              <a:t>beurlaubt</a:t>
            </a:r>
            <a:r>
              <a:rPr lang="en-US" sz="1000" dirty="0"/>
              <a:t>" </a:t>
            </a:r>
            <a:r>
              <a:rPr lang="en-US" sz="1000" dirty="0" err="1"/>
              <a:t>nach</a:t>
            </a:r>
            <a:r>
              <a:rPr lang="en-US" sz="1000" dirty="0"/>
              <a:t> </a:t>
            </a:r>
            <a:r>
              <a:rPr lang="en-US" sz="1000" dirty="0" err="1"/>
              <a:t>einem</a:t>
            </a:r>
            <a:r>
              <a:rPr lang="en-US" sz="1000" dirty="0"/>
              <a:t> </a:t>
            </a:r>
            <a:r>
              <a:rPr lang="en-US" sz="1000" dirty="0" err="1"/>
              <a:t>ungeklärten</a:t>
            </a:r>
            <a:r>
              <a:rPr lang="en-US" sz="1000" dirty="0"/>
              <a:t> </a:t>
            </a:r>
            <a:r>
              <a:rPr lang="en-US" sz="1000" dirty="0" err="1"/>
              <a:t>Vorfall</a:t>
            </a:r>
            <a:r>
              <a:rPr lang="en-US" sz="1000" dirty="0"/>
              <a:t> </a:t>
            </a:r>
            <a:r>
              <a:rPr lang="en-US" sz="1000" dirty="0" err="1"/>
              <a:t>im</a:t>
            </a:r>
            <a:r>
              <a:rPr lang="en-US" sz="1000" dirty="0"/>
              <a:t> </a:t>
            </a:r>
            <a:r>
              <a:rPr lang="en-US" sz="1000" dirty="0" err="1"/>
              <a:t>Vatikan</a:t>
            </a:r>
            <a:r>
              <a:rPr lang="en-US" sz="1000" dirty="0"/>
              <a:t> - </a:t>
            </a:r>
            <a:r>
              <a:rPr lang="en-US" sz="1000" dirty="0" err="1"/>
              <a:t>angeblich</a:t>
            </a:r>
            <a:r>
              <a:rPr lang="en-US" sz="1000" dirty="0"/>
              <a:t> </a:t>
            </a:r>
            <a:r>
              <a:rPr lang="en-US" sz="1000" dirty="0" err="1"/>
              <a:t>ging</a:t>
            </a:r>
            <a:r>
              <a:rPr lang="en-US" sz="1000" dirty="0"/>
              <a:t> es um </a:t>
            </a:r>
            <a:r>
              <a:rPr lang="en-US" sz="1000" dirty="0" err="1"/>
              <a:t>verbotene</a:t>
            </a:r>
            <a:r>
              <a:rPr lang="en-US" sz="1000" dirty="0"/>
              <a:t> </a:t>
            </a:r>
            <a:r>
              <a:rPr lang="en-US" sz="1000" dirty="0" err="1"/>
              <a:t>Texte</a:t>
            </a:r>
            <a:r>
              <a:rPr lang="en-US" sz="1000" dirty="0"/>
              <a:t> </a:t>
            </a:r>
            <a:r>
              <a:rPr lang="en-US" sz="1000" dirty="0" err="1"/>
              <a:t>über</a:t>
            </a:r>
            <a:r>
              <a:rPr lang="en-US" sz="1000" dirty="0"/>
              <a:t> </a:t>
            </a:r>
            <a:r>
              <a:rPr lang="en-US" sz="1000" dirty="0" err="1"/>
              <a:t>Lykanthropie</a:t>
            </a:r>
            <a:r>
              <a:rPr lang="en-US" sz="1000" dirty="0"/>
              <a:t>. Es </a:t>
            </a:r>
            <a:r>
              <a:rPr lang="en-US" sz="1000" dirty="0" err="1"/>
              <a:t>wird</a:t>
            </a:r>
            <a:r>
              <a:rPr lang="en-US" sz="1000" dirty="0"/>
              <a:t> </a:t>
            </a:r>
            <a:r>
              <a:rPr lang="en-US" sz="1000" dirty="0" err="1"/>
              <a:t>aber</a:t>
            </a:r>
            <a:r>
              <a:rPr lang="en-US" sz="1000" dirty="0"/>
              <a:t> </a:t>
            </a:r>
            <a:r>
              <a:rPr lang="en-US" sz="1000" dirty="0" err="1"/>
              <a:t>eigentlich</a:t>
            </a:r>
            <a:r>
              <a:rPr lang="en-US" sz="1000" dirty="0"/>
              <a:t> </a:t>
            </a:r>
            <a:r>
              <a:rPr lang="en-US" sz="1000" dirty="0" err="1"/>
              <a:t>etwas</a:t>
            </a:r>
            <a:r>
              <a:rPr lang="en-US" sz="1000" dirty="0"/>
              <a:t> </a:t>
            </a:r>
            <a:r>
              <a:rPr lang="en-US" sz="1000" dirty="0" err="1"/>
              <a:t>anderes</a:t>
            </a:r>
            <a:r>
              <a:rPr lang="en-US" sz="1000" dirty="0"/>
              <a:t> </a:t>
            </a:r>
            <a:r>
              <a:rPr lang="en-US" sz="1000" dirty="0" err="1"/>
              <a:t>vermutet</a:t>
            </a:r>
            <a:r>
              <a:rPr lang="en-US" sz="1000" dirty="0"/>
              <a:t>…</a:t>
            </a:r>
          </a:p>
          <a:p>
            <a:r>
              <a:rPr lang="en-US" sz="1000" dirty="0" err="1"/>
              <a:t>Warum</a:t>
            </a:r>
            <a:r>
              <a:rPr lang="en-US" sz="1000" dirty="0"/>
              <a:t> </a:t>
            </a:r>
            <a:r>
              <a:rPr lang="en-US" sz="1000" dirty="0" err="1"/>
              <a:t>hier</a:t>
            </a:r>
            <a:r>
              <a:rPr lang="en-US" sz="1000" dirty="0"/>
              <a:t>: Viktor Bergmann hat </a:t>
            </a:r>
            <a:r>
              <a:rPr lang="en-US" sz="1000" dirty="0" err="1"/>
              <a:t>ihn</a:t>
            </a:r>
            <a:r>
              <a:rPr lang="en-US" sz="1000" dirty="0"/>
              <a:t> </a:t>
            </a:r>
            <a:r>
              <a:rPr lang="en-US" sz="1000" dirty="0" err="1"/>
              <a:t>gebeten</a:t>
            </a:r>
            <a:r>
              <a:rPr lang="en-US" sz="1000" dirty="0"/>
              <a:t>, das Hotel </a:t>
            </a:r>
            <a:r>
              <a:rPr lang="en-US" sz="1000" dirty="0" err="1"/>
              <a:t>zu</a:t>
            </a:r>
            <a:r>
              <a:rPr lang="en-US" sz="1000" dirty="0"/>
              <a:t> </a:t>
            </a:r>
            <a:r>
              <a:rPr lang="en-US" sz="1000" dirty="0" err="1"/>
              <a:t>segnen</a:t>
            </a:r>
            <a:r>
              <a:rPr lang="en-US" sz="1000" dirty="0"/>
              <a:t> - er </a:t>
            </a:r>
            <a:r>
              <a:rPr lang="en-US" sz="1000" dirty="0" err="1"/>
              <a:t>kennt</a:t>
            </a:r>
            <a:r>
              <a:rPr lang="en-US" sz="1000" dirty="0"/>
              <a:t> die </a:t>
            </a:r>
            <a:r>
              <a:rPr lang="en-US" sz="1000" dirty="0" err="1"/>
              <a:t>alten</a:t>
            </a:r>
            <a:r>
              <a:rPr lang="en-US" sz="1000" dirty="0"/>
              <a:t> </a:t>
            </a:r>
            <a:r>
              <a:rPr lang="en-US" sz="1000" dirty="0" err="1"/>
              <a:t>Geschichten</a:t>
            </a:r>
            <a:r>
              <a:rPr lang="en-US" sz="1000" dirty="0"/>
              <a:t> </a:t>
            </a:r>
            <a:r>
              <a:rPr lang="en-US" sz="1000" dirty="0" err="1"/>
              <a:t>über</a:t>
            </a:r>
            <a:r>
              <a:rPr lang="en-US" sz="1000" dirty="0"/>
              <a:t> das Hotel</a:t>
            </a:r>
          </a:p>
          <a:p>
            <a:r>
              <a:rPr lang="en-US" sz="1000" dirty="0" err="1"/>
              <a:t>Besonderheit</a:t>
            </a:r>
            <a:r>
              <a:rPr lang="en-US" sz="1000" dirty="0"/>
              <a:t>: </a:t>
            </a:r>
            <a:r>
              <a:rPr lang="en-US" sz="1000" dirty="0" err="1"/>
              <a:t>Behauptet</a:t>
            </a:r>
            <a:r>
              <a:rPr lang="en-US" sz="1000" dirty="0"/>
              <a:t>, "das </a:t>
            </a:r>
            <a:r>
              <a:rPr lang="en-US" sz="1000" dirty="0" err="1"/>
              <a:t>Böse</a:t>
            </a:r>
            <a:r>
              <a:rPr lang="en-US" sz="1000" dirty="0"/>
              <a:t> </a:t>
            </a:r>
            <a:r>
              <a:rPr lang="en-US" sz="1000" dirty="0" err="1"/>
              <a:t>riechen</a:t>
            </a:r>
            <a:r>
              <a:rPr lang="en-US" sz="1000" dirty="0"/>
              <a:t> </a:t>
            </a:r>
            <a:r>
              <a:rPr lang="en-US" sz="1000" dirty="0" err="1"/>
              <a:t>zu</a:t>
            </a:r>
            <a:r>
              <a:rPr lang="en-US" sz="1000" dirty="0"/>
              <a:t> </a:t>
            </a:r>
            <a:r>
              <a:rPr lang="en-US" sz="1000" dirty="0" err="1"/>
              <a:t>können</a:t>
            </a:r>
            <a:r>
              <a:rPr lang="en-US" sz="1000" dirty="0"/>
              <a:t>" - die </a:t>
            </a:r>
            <a:r>
              <a:rPr lang="en-US" sz="1000" dirty="0" err="1"/>
              <a:t>anderen</a:t>
            </a:r>
            <a:r>
              <a:rPr lang="en-US" sz="1000" dirty="0"/>
              <a:t> </a:t>
            </a:r>
            <a:r>
              <a:rPr lang="en-US" sz="1000" dirty="0" err="1"/>
              <a:t>halten</a:t>
            </a:r>
            <a:r>
              <a:rPr lang="en-US" sz="1000" dirty="0"/>
              <a:t> das </a:t>
            </a:r>
            <a:r>
              <a:rPr lang="en-US" sz="1000" dirty="0" err="1"/>
              <a:t>für</a:t>
            </a:r>
            <a:r>
              <a:rPr lang="en-US" sz="1000" dirty="0"/>
              <a:t> </a:t>
            </a:r>
            <a:r>
              <a:rPr lang="en-US" sz="1000" dirty="0" err="1"/>
              <a:t>Spinnerei</a:t>
            </a:r>
            <a:endParaRPr lang="en-US" sz="1000" dirty="0"/>
          </a:p>
          <a:p>
            <a:endParaRPr lang="en-US" sz="1000" dirty="0"/>
          </a:p>
          <a:p>
            <a:r>
              <a:rPr lang="en-US" sz="1000" dirty="0"/>
              <a:t>Jazz Monroe (26) - </a:t>
            </a:r>
            <a:r>
              <a:rPr lang="en-US" sz="1000" dirty="0" err="1"/>
              <a:t>Musikerin</a:t>
            </a:r>
            <a:r>
              <a:rPr lang="en-US" sz="1000" dirty="0"/>
              <a:t> (</a:t>
            </a:r>
            <a:r>
              <a:rPr lang="en-US" sz="1000" dirty="0" err="1"/>
              <a:t>chrissi</a:t>
            </a:r>
            <a:r>
              <a:rPr lang="en-US" sz="1000" dirty="0"/>
              <a:t>)</a:t>
            </a:r>
          </a:p>
          <a:p>
            <a:r>
              <a:rPr lang="en-US" sz="1000" dirty="0" err="1"/>
              <a:t>Beruf</a:t>
            </a:r>
            <a:r>
              <a:rPr lang="en-US" sz="1000" dirty="0"/>
              <a:t>: Singer-Songwriter, </a:t>
            </a:r>
            <a:r>
              <a:rPr lang="en-US" sz="1000" dirty="0" err="1"/>
              <a:t>kleine</a:t>
            </a:r>
            <a:r>
              <a:rPr lang="en-US" sz="1000" dirty="0"/>
              <a:t> Fame </a:t>
            </a:r>
            <a:r>
              <a:rPr lang="en-US" sz="1000" dirty="0" err="1"/>
              <a:t>durch</a:t>
            </a:r>
            <a:r>
              <a:rPr lang="en-US" sz="1000" dirty="0"/>
              <a:t> </a:t>
            </a:r>
            <a:r>
              <a:rPr lang="en-US" sz="1000" dirty="0" err="1"/>
              <a:t>TikTok</a:t>
            </a:r>
            <a:endParaRPr lang="en-US" sz="1000" dirty="0"/>
          </a:p>
          <a:p>
            <a:r>
              <a:rPr lang="en-US" sz="1000" dirty="0" err="1"/>
              <a:t>Äußeres</a:t>
            </a:r>
            <a:r>
              <a:rPr lang="en-US" sz="1000" dirty="0"/>
              <a:t>: </a:t>
            </a:r>
            <a:r>
              <a:rPr lang="en-US" sz="1000" dirty="0" err="1"/>
              <a:t>Bunte</a:t>
            </a:r>
            <a:r>
              <a:rPr lang="en-US" sz="1000" dirty="0"/>
              <a:t> </a:t>
            </a:r>
            <a:r>
              <a:rPr lang="en-US" sz="1000" dirty="0" err="1"/>
              <a:t>gefärbte</a:t>
            </a:r>
            <a:r>
              <a:rPr lang="en-US" sz="1000" dirty="0"/>
              <a:t> </a:t>
            </a:r>
            <a:r>
              <a:rPr lang="en-US" sz="1000" dirty="0" err="1"/>
              <a:t>Haare</a:t>
            </a:r>
            <a:r>
              <a:rPr lang="en-US" sz="1000" dirty="0"/>
              <a:t> (</a:t>
            </a:r>
            <a:r>
              <a:rPr lang="en-US" sz="1000" dirty="0" err="1"/>
              <a:t>derzeit</a:t>
            </a:r>
            <a:r>
              <a:rPr lang="en-US" sz="1000" dirty="0"/>
              <a:t> </a:t>
            </a:r>
            <a:r>
              <a:rPr lang="en-US" sz="1000" dirty="0" err="1"/>
              <a:t>lila-blau</a:t>
            </a:r>
            <a:r>
              <a:rPr lang="en-US" sz="1000" dirty="0"/>
              <a:t>), Vintage-</a:t>
            </a:r>
            <a:r>
              <a:rPr lang="en-US" sz="1000" dirty="0" err="1"/>
              <a:t>Kleidung</a:t>
            </a:r>
            <a:r>
              <a:rPr lang="en-US" sz="1000" dirty="0"/>
              <a:t>, multiple Piercings, </a:t>
            </a:r>
            <a:r>
              <a:rPr lang="en-US" sz="1000" dirty="0" err="1"/>
              <a:t>trägt</a:t>
            </a:r>
            <a:r>
              <a:rPr lang="en-US" sz="1000" dirty="0"/>
              <a:t> </a:t>
            </a:r>
            <a:r>
              <a:rPr lang="en-US" sz="1000" dirty="0" err="1"/>
              <a:t>immer</a:t>
            </a:r>
            <a:r>
              <a:rPr lang="en-US" sz="1000" dirty="0"/>
              <a:t> </a:t>
            </a:r>
            <a:r>
              <a:rPr lang="en-US" sz="1000" dirty="0" err="1"/>
              <a:t>ihre</a:t>
            </a:r>
            <a:r>
              <a:rPr lang="en-US" sz="1000" dirty="0"/>
              <a:t> </a:t>
            </a:r>
            <a:r>
              <a:rPr lang="en-US" sz="1000" dirty="0" err="1"/>
              <a:t>Gitarre</a:t>
            </a:r>
            <a:r>
              <a:rPr lang="en-US" sz="1000" dirty="0"/>
              <a:t> </a:t>
            </a:r>
            <a:r>
              <a:rPr lang="en-US" sz="1000" dirty="0" err="1"/>
              <a:t>bei</a:t>
            </a:r>
            <a:r>
              <a:rPr lang="en-US" sz="1000" dirty="0"/>
              <a:t> </a:t>
            </a:r>
            <a:r>
              <a:rPr lang="en-US" sz="1000" dirty="0" err="1"/>
              <a:t>sich</a:t>
            </a:r>
            <a:endParaRPr lang="en-US" sz="1000" dirty="0"/>
          </a:p>
          <a:p>
            <a:r>
              <a:rPr lang="en-US" sz="1000" dirty="0" err="1"/>
              <a:t>Persönlichkeit</a:t>
            </a:r>
            <a:r>
              <a:rPr lang="en-US" sz="1000" dirty="0"/>
              <a:t>: </a:t>
            </a:r>
            <a:r>
              <a:rPr lang="en-US" sz="1000" dirty="0" err="1"/>
              <a:t>Extrovertiert</a:t>
            </a:r>
            <a:r>
              <a:rPr lang="en-US" sz="1000" dirty="0"/>
              <a:t>, emotional, </a:t>
            </a:r>
            <a:r>
              <a:rPr lang="en-US" sz="1000" dirty="0" err="1"/>
              <a:t>nimmt</a:t>
            </a:r>
            <a:r>
              <a:rPr lang="en-US" sz="1000" dirty="0"/>
              <a:t> </a:t>
            </a:r>
            <a:r>
              <a:rPr lang="en-US" sz="1000" dirty="0" err="1"/>
              <a:t>alles</a:t>
            </a:r>
            <a:r>
              <a:rPr lang="en-US" sz="1000" dirty="0"/>
              <a:t> </a:t>
            </a:r>
            <a:r>
              <a:rPr lang="en-US" sz="1000" dirty="0" err="1"/>
              <a:t>mit</a:t>
            </a:r>
            <a:r>
              <a:rPr lang="en-US" sz="1000" dirty="0"/>
              <a:t> dem Handy auf, </a:t>
            </a:r>
            <a:r>
              <a:rPr lang="en-US" sz="1000" dirty="0" err="1"/>
              <a:t>postet</a:t>
            </a:r>
            <a:r>
              <a:rPr lang="en-US" sz="1000" dirty="0"/>
              <a:t> </a:t>
            </a:r>
            <a:r>
              <a:rPr lang="en-US" sz="1000" dirty="0" err="1"/>
              <a:t>ständig</a:t>
            </a:r>
            <a:endParaRPr lang="en-US" sz="1000" dirty="0"/>
          </a:p>
          <a:p>
            <a:r>
              <a:rPr lang="en-US" sz="1000" dirty="0" err="1"/>
              <a:t>Geheimnis</a:t>
            </a:r>
            <a:r>
              <a:rPr lang="en-US" sz="1000" dirty="0"/>
              <a:t>: </a:t>
            </a:r>
            <a:r>
              <a:rPr lang="en-US" sz="1000" dirty="0" err="1"/>
              <a:t>Ist</a:t>
            </a:r>
            <a:r>
              <a:rPr lang="en-US" sz="1000" dirty="0"/>
              <a:t> </a:t>
            </a:r>
            <a:r>
              <a:rPr lang="en-US" sz="1000" dirty="0" err="1"/>
              <a:t>eigentlich</a:t>
            </a:r>
            <a:r>
              <a:rPr lang="en-US" sz="1000" dirty="0"/>
              <a:t> </a:t>
            </a:r>
            <a:r>
              <a:rPr lang="en-US" sz="1000" dirty="0" err="1"/>
              <a:t>pleite</a:t>
            </a:r>
            <a:r>
              <a:rPr lang="en-US" sz="1000" dirty="0"/>
              <a:t>, das "Influencer-Leben" </a:t>
            </a:r>
            <a:r>
              <a:rPr lang="en-US" sz="1000" dirty="0" err="1"/>
              <a:t>ist</a:t>
            </a:r>
            <a:r>
              <a:rPr lang="en-US" sz="1000" dirty="0"/>
              <a:t> </a:t>
            </a:r>
            <a:r>
              <a:rPr lang="en-US" sz="1000" dirty="0" err="1"/>
              <a:t>Fassade</a:t>
            </a:r>
            <a:r>
              <a:rPr lang="en-US" sz="1000" dirty="0"/>
              <a:t> - </a:t>
            </a:r>
            <a:r>
              <a:rPr lang="en-US" sz="1000" dirty="0" err="1"/>
              <a:t>wurde</a:t>
            </a:r>
            <a:r>
              <a:rPr lang="en-US" sz="1000" dirty="0"/>
              <a:t> </a:t>
            </a:r>
            <a:r>
              <a:rPr lang="en-US" sz="1000" dirty="0" err="1"/>
              <a:t>vom</a:t>
            </a:r>
            <a:r>
              <a:rPr lang="en-US" sz="1000" dirty="0"/>
              <a:t> Hotel </a:t>
            </a:r>
            <a:r>
              <a:rPr lang="en-US" sz="1000" dirty="0" err="1"/>
              <a:t>für</a:t>
            </a:r>
            <a:r>
              <a:rPr lang="en-US" sz="1000" dirty="0"/>
              <a:t> "Promo" </a:t>
            </a:r>
            <a:r>
              <a:rPr lang="en-US" sz="1000" dirty="0" err="1"/>
              <a:t>eingeladen</a:t>
            </a:r>
            <a:endParaRPr lang="en-US" sz="1000" dirty="0"/>
          </a:p>
          <a:p>
            <a:r>
              <a:rPr lang="en-US" sz="1000" dirty="0" err="1"/>
              <a:t>Warum</a:t>
            </a:r>
            <a:r>
              <a:rPr lang="en-US" sz="1000" dirty="0"/>
              <a:t> </a:t>
            </a:r>
            <a:r>
              <a:rPr lang="en-US" sz="1000" dirty="0" err="1"/>
              <a:t>hier</a:t>
            </a:r>
            <a:r>
              <a:rPr lang="en-US" sz="1000" dirty="0"/>
              <a:t>: Soll das Event </a:t>
            </a:r>
            <a:r>
              <a:rPr lang="en-US" sz="1000" dirty="0" err="1"/>
              <a:t>für</a:t>
            </a:r>
            <a:r>
              <a:rPr lang="en-US" sz="1000" dirty="0"/>
              <a:t> Social Media </a:t>
            </a:r>
            <a:r>
              <a:rPr lang="en-US" sz="1000" dirty="0" err="1"/>
              <a:t>dokumentieren</a:t>
            </a:r>
            <a:r>
              <a:rPr lang="en-US" sz="1000" dirty="0"/>
              <a:t>, </a:t>
            </a:r>
            <a:r>
              <a:rPr lang="en-US" sz="1000" dirty="0" err="1"/>
              <a:t>hofft</a:t>
            </a:r>
            <a:r>
              <a:rPr lang="en-US" sz="1000" dirty="0"/>
              <a:t> auf den </a:t>
            </a:r>
            <a:r>
              <a:rPr lang="en-US" sz="1000" dirty="0" err="1"/>
              <a:t>großen</a:t>
            </a:r>
            <a:r>
              <a:rPr lang="en-US" sz="1000" dirty="0"/>
              <a:t> </a:t>
            </a:r>
            <a:r>
              <a:rPr lang="en-US" sz="1000" dirty="0" err="1"/>
              <a:t>viralen</a:t>
            </a:r>
            <a:r>
              <a:rPr lang="en-US" sz="1000" dirty="0"/>
              <a:t> Hit</a:t>
            </a:r>
          </a:p>
          <a:p>
            <a:r>
              <a:rPr lang="en-US" sz="1000" dirty="0" err="1"/>
              <a:t>Besonderheit</a:t>
            </a:r>
            <a:r>
              <a:rPr lang="en-US" sz="1000" dirty="0"/>
              <a:t>: Hat </a:t>
            </a:r>
            <a:r>
              <a:rPr lang="en-US" sz="1000" dirty="0" err="1"/>
              <a:t>eine</a:t>
            </a:r>
            <a:r>
              <a:rPr lang="en-US" sz="1000" dirty="0"/>
              <a:t> </a:t>
            </a:r>
            <a:r>
              <a:rPr lang="en-US" sz="1000" dirty="0" err="1"/>
              <a:t>außergewöhnlich</a:t>
            </a:r>
            <a:r>
              <a:rPr lang="en-US" sz="1000" dirty="0"/>
              <a:t> </a:t>
            </a:r>
            <a:r>
              <a:rPr lang="en-US" sz="1000" dirty="0" err="1"/>
              <a:t>gute</a:t>
            </a:r>
            <a:r>
              <a:rPr lang="en-US" sz="1000" dirty="0"/>
              <a:t> </a:t>
            </a:r>
            <a:r>
              <a:rPr lang="en-US" sz="1000" dirty="0" err="1"/>
              <a:t>Beobachtungsgabe</a:t>
            </a:r>
            <a:r>
              <a:rPr lang="en-US" sz="1000" dirty="0"/>
              <a:t> - </a:t>
            </a:r>
            <a:r>
              <a:rPr lang="en-US" sz="1000" dirty="0" err="1"/>
              <a:t>merkt</a:t>
            </a:r>
            <a:r>
              <a:rPr lang="en-US" sz="1000" dirty="0"/>
              <a:t> </a:t>
            </a:r>
            <a:r>
              <a:rPr lang="en-US" sz="1000" dirty="0" err="1"/>
              <a:t>sich</a:t>
            </a:r>
            <a:r>
              <a:rPr lang="en-US" sz="1000" dirty="0"/>
              <a:t> </a:t>
            </a:r>
            <a:r>
              <a:rPr lang="en-US" sz="1000" dirty="0" err="1"/>
              <a:t>Melodien</a:t>
            </a:r>
            <a:r>
              <a:rPr lang="en-US" sz="1000" dirty="0"/>
              <a:t>, </a:t>
            </a:r>
            <a:r>
              <a:rPr lang="en-US" sz="1000" dirty="0" err="1"/>
              <a:t>Stimmen</a:t>
            </a:r>
            <a:r>
              <a:rPr lang="en-US" sz="1000" dirty="0"/>
              <a:t> und </a:t>
            </a:r>
            <a:r>
              <a:rPr lang="en-US" sz="1000" dirty="0" err="1"/>
              <a:t>Geräusche</a:t>
            </a:r>
            <a:r>
              <a:rPr lang="en-US" sz="1000" dirty="0"/>
              <a:t> </a:t>
            </a:r>
            <a:r>
              <a:rPr lang="en-US" sz="1000" dirty="0" err="1"/>
              <a:t>perfekt</a:t>
            </a:r>
            <a:endParaRPr lang="en-US" sz="1000" dirty="0"/>
          </a:p>
        </p:txBody>
      </p:sp>
      <p:sp>
        <p:nvSpPr>
          <p:cNvPr id="6" name="Textfeld 5">
            <a:extLst>
              <a:ext uri="{FF2B5EF4-FFF2-40B4-BE49-F238E27FC236}">
                <a16:creationId xmlns:a16="http://schemas.microsoft.com/office/drawing/2014/main" id="{4654C6F5-29F2-4F77-9306-ED1519DEBD90}"/>
              </a:ext>
            </a:extLst>
          </p:cNvPr>
          <p:cNvSpPr txBox="1"/>
          <p:nvPr/>
        </p:nvSpPr>
        <p:spPr>
          <a:xfrm>
            <a:off x="6625571" y="693369"/>
            <a:ext cx="5044126" cy="6247864"/>
          </a:xfrm>
          <a:prstGeom prst="rect">
            <a:avLst/>
          </a:prstGeom>
          <a:noFill/>
        </p:spPr>
        <p:txBody>
          <a:bodyPr wrap="square">
            <a:spAutoFit/>
          </a:bodyPr>
          <a:lstStyle/>
          <a:p>
            <a:r>
              <a:rPr lang="en-US" sz="1000" dirty="0"/>
              <a:t>Dr. Sarah Chen (38) – </a:t>
            </a:r>
            <a:r>
              <a:rPr lang="en-US" sz="1000" dirty="0" err="1"/>
              <a:t>ehemalige</a:t>
            </a:r>
            <a:r>
              <a:rPr lang="en-US" sz="1000" dirty="0"/>
              <a:t> Not und nun HNO </a:t>
            </a:r>
            <a:r>
              <a:rPr lang="en-US" sz="1000" dirty="0" err="1"/>
              <a:t>Ärztin</a:t>
            </a:r>
            <a:r>
              <a:rPr lang="en-US" sz="1000" dirty="0"/>
              <a:t> (Lena)</a:t>
            </a:r>
          </a:p>
          <a:p>
            <a:r>
              <a:rPr lang="en-US" sz="1000" dirty="0" err="1"/>
              <a:t>Beruf</a:t>
            </a:r>
            <a:r>
              <a:rPr lang="en-US" sz="1000" dirty="0"/>
              <a:t>: </a:t>
            </a:r>
            <a:r>
              <a:rPr lang="en-US" sz="1000" dirty="0" err="1"/>
              <a:t>Leiterin</a:t>
            </a:r>
            <a:r>
              <a:rPr lang="en-US" sz="1000" dirty="0"/>
              <a:t> der </a:t>
            </a:r>
            <a:r>
              <a:rPr lang="en-US" sz="1000" dirty="0" err="1"/>
              <a:t>Bergrettung</a:t>
            </a:r>
            <a:r>
              <a:rPr lang="en-US" sz="1000" dirty="0"/>
              <a:t> Graubünden</a:t>
            </a:r>
          </a:p>
          <a:p>
            <a:r>
              <a:rPr lang="en-US" sz="1000" dirty="0" err="1"/>
              <a:t>Äußeres</a:t>
            </a:r>
            <a:r>
              <a:rPr lang="en-US" sz="1000" dirty="0"/>
              <a:t>: </a:t>
            </a:r>
            <a:r>
              <a:rPr lang="en-US" sz="1000" dirty="0" err="1"/>
              <a:t>Athletisch</a:t>
            </a:r>
            <a:r>
              <a:rPr lang="en-US" sz="1000" dirty="0"/>
              <a:t>, </a:t>
            </a:r>
            <a:r>
              <a:rPr lang="en-US" sz="1000" dirty="0" err="1"/>
              <a:t>kurze</a:t>
            </a:r>
            <a:r>
              <a:rPr lang="en-US" sz="1000" dirty="0"/>
              <a:t> </a:t>
            </a:r>
            <a:r>
              <a:rPr lang="en-US" sz="1000" dirty="0" err="1"/>
              <a:t>schwarze</a:t>
            </a:r>
            <a:r>
              <a:rPr lang="en-US" sz="1000" dirty="0"/>
              <a:t> </a:t>
            </a:r>
            <a:r>
              <a:rPr lang="en-US" sz="1000" dirty="0" err="1"/>
              <a:t>Haare</a:t>
            </a:r>
            <a:r>
              <a:rPr lang="en-US" sz="1000" dirty="0"/>
              <a:t>, stets </a:t>
            </a:r>
            <a:r>
              <a:rPr lang="en-US" sz="1000" dirty="0" err="1"/>
              <a:t>funktional</a:t>
            </a:r>
            <a:r>
              <a:rPr lang="en-US" sz="1000" dirty="0"/>
              <a:t> </a:t>
            </a:r>
            <a:r>
              <a:rPr lang="en-US" sz="1000" dirty="0" err="1"/>
              <a:t>gekleidet</a:t>
            </a:r>
            <a:endParaRPr lang="en-US" sz="1000" dirty="0"/>
          </a:p>
          <a:p>
            <a:r>
              <a:rPr lang="en-US" sz="1000" dirty="0" err="1"/>
              <a:t>Persönlichkeit</a:t>
            </a:r>
            <a:r>
              <a:rPr lang="en-US" sz="1000" dirty="0"/>
              <a:t>: </a:t>
            </a:r>
            <a:r>
              <a:rPr lang="en-US" sz="1000" dirty="0" err="1"/>
              <a:t>Ruhig</a:t>
            </a:r>
            <a:r>
              <a:rPr lang="en-US" sz="1000" dirty="0"/>
              <a:t>, </a:t>
            </a:r>
            <a:r>
              <a:rPr lang="en-US" sz="1000" dirty="0" err="1"/>
              <a:t>analytisch</a:t>
            </a:r>
            <a:r>
              <a:rPr lang="en-US" sz="1000" dirty="0"/>
              <a:t>, </a:t>
            </a:r>
            <a:r>
              <a:rPr lang="en-US" sz="1000" dirty="0" err="1"/>
              <a:t>gewohnt</a:t>
            </a:r>
            <a:r>
              <a:rPr lang="en-US" sz="1000" dirty="0"/>
              <a:t> </a:t>
            </a:r>
            <a:r>
              <a:rPr lang="en-US" sz="1000" dirty="0" err="1"/>
              <a:t>unter</a:t>
            </a:r>
            <a:r>
              <a:rPr lang="en-US" sz="1000" dirty="0"/>
              <a:t> </a:t>
            </a:r>
            <a:r>
              <a:rPr lang="en-US" sz="1000" dirty="0" err="1"/>
              <a:t>Druck</a:t>
            </a:r>
            <a:r>
              <a:rPr lang="en-US" sz="1000" dirty="0"/>
              <a:t> </a:t>
            </a:r>
            <a:r>
              <a:rPr lang="en-US" sz="1000" dirty="0" err="1"/>
              <a:t>zu</a:t>
            </a:r>
            <a:r>
              <a:rPr lang="en-US" sz="1000" dirty="0"/>
              <a:t> </a:t>
            </a:r>
            <a:r>
              <a:rPr lang="en-US" sz="1000" dirty="0" err="1"/>
              <a:t>arbeiten</a:t>
            </a:r>
            <a:endParaRPr lang="en-US" sz="1000" dirty="0"/>
          </a:p>
          <a:p>
            <a:r>
              <a:rPr lang="en-US" sz="1000" dirty="0" err="1"/>
              <a:t>Geheimnis</a:t>
            </a:r>
            <a:r>
              <a:rPr lang="en-US" sz="1000" dirty="0"/>
              <a:t>: War </a:t>
            </a:r>
            <a:r>
              <a:rPr lang="en-US" sz="1000" dirty="0" err="1"/>
              <a:t>vor</a:t>
            </a:r>
            <a:r>
              <a:rPr lang="en-US" sz="1000" dirty="0"/>
              <a:t> 3 Jahren </a:t>
            </a:r>
            <a:r>
              <a:rPr lang="en-US" sz="1000" dirty="0" err="1"/>
              <a:t>bei</a:t>
            </a:r>
            <a:r>
              <a:rPr lang="en-US" sz="1000" dirty="0"/>
              <a:t> </a:t>
            </a:r>
            <a:r>
              <a:rPr lang="en-US" sz="1000" dirty="0" err="1"/>
              <a:t>einem</a:t>
            </a:r>
            <a:r>
              <a:rPr lang="en-US" sz="1000" dirty="0"/>
              <a:t> </a:t>
            </a:r>
            <a:r>
              <a:rPr lang="en-US" sz="1000" dirty="0" err="1"/>
              <a:t>Tierangriff</a:t>
            </a:r>
            <a:r>
              <a:rPr lang="en-US" sz="1000" dirty="0"/>
              <a:t> </a:t>
            </a:r>
            <a:r>
              <a:rPr lang="en-US" sz="1000" dirty="0" err="1"/>
              <a:t>im</a:t>
            </a:r>
            <a:r>
              <a:rPr lang="en-US" sz="1000" dirty="0"/>
              <a:t> Hotel </a:t>
            </a:r>
            <a:r>
              <a:rPr lang="en-US" sz="1000" dirty="0" err="1"/>
              <a:t>als</a:t>
            </a:r>
            <a:r>
              <a:rPr lang="en-US" sz="1000" dirty="0"/>
              <a:t> </a:t>
            </a:r>
            <a:r>
              <a:rPr lang="en-US" sz="1000" dirty="0" err="1"/>
              <a:t>Erstversorgerin</a:t>
            </a:r>
            <a:r>
              <a:rPr lang="en-US" sz="1000" dirty="0"/>
              <a:t> </a:t>
            </a:r>
            <a:r>
              <a:rPr lang="en-US" sz="1000" dirty="0" err="1"/>
              <a:t>dabei</a:t>
            </a:r>
            <a:r>
              <a:rPr lang="en-US" sz="1000" dirty="0"/>
              <a:t> und </a:t>
            </a:r>
            <a:r>
              <a:rPr lang="en-US" sz="1000" dirty="0" err="1"/>
              <a:t>konnte</a:t>
            </a:r>
            <a:r>
              <a:rPr lang="en-US" sz="1000" dirty="0"/>
              <a:t> die Person </a:t>
            </a:r>
            <a:r>
              <a:rPr lang="en-US" sz="1000" dirty="0" err="1"/>
              <a:t>nicht</a:t>
            </a:r>
            <a:r>
              <a:rPr lang="en-US" sz="1000" dirty="0"/>
              <a:t> </a:t>
            </a:r>
            <a:r>
              <a:rPr lang="en-US" sz="1000" dirty="0" err="1"/>
              <a:t>retten</a:t>
            </a:r>
            <a:endParaRPr lang="en-US" sz="1000" dirty="0"/>
          </a:p>
          <a:p>
            <a:r>
              <a:rPr lang="en-US" sz="1000" dirty="0" err="1"/>
              <a:t>Warum</a:t>
            </a:r>
            <a:r>
              <a:rPr lang="en-US" sz="1000" dirty="0"/>
              <a:t> </a:t>
            </a:r>
            <a:r>
              <a:rPr lang="en-US" sz="1000" dirty="0" err="1"/>
              <a:t>hier</a:t>
            </a:r>
            <a:r>
              <a:rPr lang="en-US" sz="1000" dirty="0"/>
              <a:t>: </a:t>
            </a:r>
            <a:r>
              <a:rPr lang="en-US" sz="1000" dirty="0" err="1"/>
              <a:t>Möchte</a:t>
            </a:r>
            <a:r>
              <a:rPr lang="en-US" sz="1000" dirty="0"/>
              <a:t> die </a:t>
            </a:r>
            <a:r>
              <a:rPr lang="en-US" sz="1000" dirty="0" err="1"/>
              <a:t>Gegend</a:t>
            </a:r>
            <a:r>
              <a:rPr lang="en-US" sz="1000" dirty="0"/>
              <a:t> </a:t>
            </a:r>
            <a:r>
              <a:rPr lang="en-US" sz="1000" dirty="0" err="1"/>
              <a:t>ausloten</a:t>
            </a:r>
            <a:r>
              <a:rPr lang="en-US" sz="1000" dirty="0"/>
              <a:t> um </a:t>
            </a:r>
            <a:r>
              <a:rPr lang="en-US" sz="1000" dirty="0" err="1"/>
              <a:t>eine</a:t>
            </a:r>
            <a:r>
              <a:rPr lang="en-US" sz="1000" dirty="0"/>
              <a:t> </a:t>
            </a:r>
            <a:r>
              <a:rPr lang="en-US" sz="1000" dirty="0" err="1"/>
              <a:t>Arztpraxis</a:t>
            </a:r>
            <a:r>
              <a:rPr lang="en-US" sz="1000" dirty="0"/>
              <a:t> </a:t>
            </a:r>
            <a:r>
              <a:rPr lang="en-US" sz="1000" dirty="0" err="1"/>
              <a:t>zu</a:t>
            </a:r>
            <a:r>
              <a:rPr lang="en-US" sz="1000" dirty="0"/>
              <a:t> </a:t>
            </a:r>
            <a:r>
              <a:rPr lang="en-US" sz="1000" dirty="0" err="1"/>
              <a:t>eröffnen</a:t>
            </a:r>
            <a:endParaRPr lang="en-US" sz="1000" dirty="0"/>
          </a:p>
          <a:p>
            <a:endParaRPr lang="en-US" sz="1000" dirty="0"/>
          </a:p>
          <a:p>
            <a:r>
              <a:rPr lang="en-US" sz="1000" dirty="0"/>
              <a:t>Luna Silbermann (45) - </a:t>
            </a:r>
            <a:r>
              <a:rPr lang="en-US" sz="1000" dirty="0" err="1"/>
              <a:t>Esoterikerin</a:t>
            </a:r>
            <a:r>
              <a:rPr lang="en-US" sz="1000" dirty="0"/>
              <a:t> (Luka)</a:t>
            </a:r>
          </a:p>
          <a:p>
            <a:r>
              <a:rPr lang="en-US" sz="1000" dirty="0" err="1"/>
              <a:t>Beruf</a:t>
            </a:r>
            <a:r>
              <a:rPr lang="en-US" sz="1000" dirty="0"/>
              <a:t>: </a:t>
            </a:r>
            <a:r>
              <a:rPr lang="en-US" sz="1000" dirty="0" err="1"/>
              <a:t>Betreibt</a:t>
            </a:r>
            <a:r>
              <a:rPr lang="en-US" sz="1000" dirty="0"/>
              <a:t> </a:t>
            </a:r>
            <a:r>
              <a:rPr lang="en-US" sz="1000" dirty="0" err="1"/>
              <a:t>einen</a:t>
            </a:r>
            <a:r>
              <a:rPr lang="en-US" sz="1000" dirty="0"/>
              <a:t> </a:t>
            </a:r>
            <a:r>
              <a:rPr lang="en-US" sz="1000" dirty="0" err="1"/>
              <a:t>spirituellen</a:t>
            </a:r>
            <a:r>
              <a:rPr lang="en-US" sz="1000" dirty="0"/>
              <a:t> Online-Shop, </a:t>
            </a:r>
            <a:r>
              <a:rPr lang="en-US" sz="1000" dirty="0" err="1"/>
              <a:t>gibt</a:t>
            </a:r>
            <a:r>
              <a:rPr lang="en-US" sz="1000" dirty="0"/>
              <a:t> </a:t>
            </a:r>
            <a:r>
              <a:rPr lang="en-US" sz="1000" dirty="0" err="1"/>
              <a:t>Mondseminare</a:t>
            </a:r>
            <a:r>
              <a:rPr lang="en-US" sz="1000" dirty="0"/>
              <a:t>, </a:t>
            </a:r>
            <a:r>
              <a:rPr lang="en-US" sz="1000" dirty="0" err="1"/>
              <a:t>keine</a:t>
            </a:r>
            <a:r>
              <a:rPr lang="en-US" sz="1000" dirty="0"/>
              <a:t> Lust auf </a:t>
            </a:r>
            <a:r>
              <a:rPr lang="en-US" sz="1000" dirty="0" err="1"/>
              <a:t>anständige</a:t>
            </a:r>
            <a:r>
              <a:rPr lang="en-US" sz="1000" dirty="0"/>
              <a:t> Arbeit</a:t>
            </a:r>
          </a:p>
          <a:p>
            <a:r>
              <a:rPr lang="en-US" sz="1000" dirty="0" err="1"/>
              <a:t>Äußeres</a:t>
            </a:r>
            <a:r>
              <a:rPr lang="en-US" sz="1000" dirty="0"/>
              <a:t>: Lange </a:t>
            </a:r>
            <a:r>
              <a:rPr lang="en-US" sz="1000" dirty="0" err="1"/>
              <a:t>silbergraue</a:t>
            </a:r>
            <a:r>
              <a:rPr lang="en-US" sz="1000" dirty="0"/>
              <a:t> </a:t>
            </a:r>
            <a:r>
              <a:rPr lang="en-US" sz="1000" dirty="0" err="1"/>
              <a:t>Haare</a:t>
            </a:r>
            <a:r>
              <a:rPr lang="en-US" sz="1000" dirty="0"/>
              <a:t>, </a:t>
            </a:r>
            <a:r>
              <a:rPr lang="en-US" sz="1000" dirty="0" err="1"/>
              <a:t>trägt</a:t>
            </a:r>
            <a:r>
              <a:rPr lang="en-US" sz="1000" dirty="0"/>
              <a:t> </a:t>
            </a:r>
            <a:r>
              <a:rPr lang="en-US" sz="1000" dirty="0" err="1"/>
              <a:t>viel</a:t>
            </a:r>
            <a:r>
              <a:rPr lang="en-US" sz="1000" dirty="0"/>
              <a:t> Schmuck </a:t>
            </a:r>
            <a:r>
              <a:rPr lang="en-US" sz="1000" dirty="0" err="1"/>
              <a:t>mit</a:t>
            </a:r>
            <a:r>
              <a:rPr lang="en-US" sz="1000" dirty="0"/>
              <a:t> </a:t>
            </a:r>
            <a:r>
              <a:rPr lang="en-US" sz="1000" dirty="0" err="1"/>
              <a:t>Mondsteinen</a:t>
            </a:r>
            <a:endParaRPr lang="en-US" sz="1000" dirty="0"/>
          </a:p>
          <a:p>
            <a:r>
              <a:rPr lang="en-US" sz="1000" dirty="0" err="1"/>
              <a:t>Persönlichkeit</a:t>
            </a:r>
            <a:r>
              <a:rPr lang="en-US" sz="1000" dirty="0"/>
              <a:t>: </a:t>
            </a:r>
            <a:r>
              <a:rPr lang="en-US" sz="1000" dirty="0" err="1"/>
              <a:t>Verträumt</a:t>
            </a:r>
            <a:r>
              <a:rPr lang="en-US" sz="1000" dirty="0"/>
              <a:t>, </a:t>
            </a:r>
            <a:r>
              <a:rPr lang="en-US" sz="1000" dirty="0" err="1"/>
              <a:t>spricht</a:t>
            </a:r>
            <a:r>
              <a:rPr lang="en-US" sz="1000" dirty="0"/>
              <a:t> in </a:t>
            </a:r>
            <a:r>
              <a:rPr lang="en-US" sz="1000" dirty="0" err="1"/>
              <a:t>Rätseln</a:t>
            </a:r>
            <a:r>
              <a:rPr lang="en-US" sz="1000" dirty="0"/>
              <a:t>, </a:t>
            </a:r>
            <a:r>
              <a:rPr lang="en-US" sz="1000" dirty="0" err="1"/>
              <a:t>überraschend</a:t>
            </a:r>
            <a:r>
              <a:rPr lang="en-US" sz="1000" dirty="0"/>
              <a:t> </a:t>
            </a:r>
            <a:r>
              <a:rPr lang="en-US" sz="1000" dirty="0" err="1"/>
              <a:t>scharfsinnig</a:t>
            </a:r>
            <a:r>
              <a:rPr lang="en-US" sz="1000" dirty="0"/>
              <a:t>, </a:t>
            </a:r>
            <a:r>
              <a:rPr lang="en-US" sz="1000" dirty="0" err="1"/>
              <a:t>Vegetarierin</a:t>
            </a:r>
            <a:r>
              <a:rPr lang="en-US" sz="1000" dirty="0"/>
              <a:t>, du </a:t>
            </a:r>
            <a:r>
              <a:rPr lang="en-US" sz="1000" dirty="0" err="1"/>
              <a:t>kennst</a:t>
            </a:r>
            <a:r>
              <a:rPr lang="en-US" sz="1000" dirty="0"/>
              <a:t> </a:t>
            </a:r>
            <a:r>
              <a:rPr lang="en-US" sz="1000" dirty="0" err="1"/>
              <a:t>viele</a:t>
            </a:r>
            <a:r>
              <a:rPr lang="en-US" sz="1000" dirty="0"/>
              <a:t> </a:t>
            </a:r>
            <a:r>
              <a:rPr lang="en-US" sz="1000" dirty="0" err="1"/>
              <a:t>Primzahlen</a:t>
            </a:r>
            <a:r>
              <a:rPr lang="en-US" sz="1000" dirty="0"/>
              <a:t> und </a:t>
            </a:r>
            <a:r>
              <a:rPr lang="en-US" sz="1000" dirty="0" err="1"/>
              <a:t>bist</a:t>
            </a:r>
            <a:r>
              <a:rPr lang="en-US" sz="1000" dirty="0"/>
              <a:t> gut </a:t>
            </a:r>
            <a:r>
              <a:rPr lang="en-US" sz="1000" dirty="0" err="1"/>
              <a:t>im</a:t>
            </a:r>
            <a:r>
              <a:rPr lang="en-US" sz="1000" dirty="0"/>
              <a:t> </a:t>
            </a:r>
            <a:r>
              <a:rPr lang="en-US" sz="1000" dirty="0" err="1"/>
              <a:t>Kopfrechnen</a:t>
            </a:r>
            <a:r>
              <a:rPr lang="en-US" sz="1000" dirty="0"/>
              <a:t> und </a:t>
            </a:r>
            <a:r>
              <a:rPr lang="en-US" sz="1000" dirty="0" err="1"/>
              <a:t>lässt</a:t>
            </a:r>
            <a:r>
              <a:rPr lang="en-US" sz="1000" dirty="0"/>
              <a:t> das die Leute </a:t>
            </a:r>
            <a:r>
              <a:rPr lang="en-US" sz="1000" dirty="0" err="1"/>
              <a:t>auch</a:t>
            </a:r>
            <a:r>
              <a:rPr lang="en-US" sz="1000" dirty="0"/>
              <a:t> gerne </a:t>
            </a:r>
            <a:r>
              <a:rPr lang="en-US" sz="1000" dirty="0" err="1"/>
              <a:t>wissen</a:t>
            </a:r>
            <a:endParaRPr lang="en-US" sz="1000" dirty="0"/>
          </a:p>
          <a:p>
            <a:r>
              <a:rPr lang="en-US" sz="1000" dirty="0" err="1"/>
              <a:t>Geheimnis</a:t>
            </a:r>
            <a:r>
              <a:rPr lang="en-US" sz="1000" dirty="0"/>
              <a:t>: </a:t>
            </a:r>
            <a:r>
              <a:rPr lang="en-US" sz="1000" dirty="0" err="1"/>
              <a:t>Ihre</a:t>
            </a:r>
            <a:r>
              <a:rPr lang="en-US" sz="1000" dirty="0"/>
              <a:t> </a:t>
            </a:r>
            <a:r>
              <a:rPr lang="en-US" sz="1000" dirty="0" err="1"/>
              <a:t>Großmutter</a:t>
            </a:r>
            <a:r>
              <a:rPr lang="en-US" sz="1000" dirty="0"/>
              <a:t> war 1952 </a:t>
            </a:r>
            <a:r>
              <a:rPr lang="en-US" sz="1000" dirty="0" err="1"/>
              <a:t>Zimmermädchen</a:t>
            </a:r>
            <a:r>
              <a:rPr lang="en-US" sz="1000" dirty="0"/>
              <a:t> </a:t>
            </a:r>
            <a:r>
              <a:rPr lang="en-US" sz="1000" dirty="0" err="1"/>
              <a:t>im</a:t>
            </a:r>
            <a:r>
              <a:rPr lang="en-US" sz="1000" dirty="0"/>
              <a:t> Hotel, </a:t>
            </a:r>
            <a:r>
              <a:rPr lang="en-US" sz="1000" dirty="0" err="1"/>
              <a:t>als</a:t>
            </a:r>
            <a:r>
              <a:rPr lang="en-US" sz="1000" dirty="0"/>
              <a:t> </a:t>
            </a:r>
            <a:r>
              <a:rPr lang="en-US" sz="1000" dirty="0" err="1"/>
              <a:t>drei</a:t>
            </a:r>
            <a:r>
              <a:rPr lang="en-US" sz="1000" dirty="0"/>
              <a:t> </a:t>
            </a:r>
            <a:r>
              <a:rPr lang="en-US" sz="1000" dirty="0" err="1"/>
              <a:t>Gäste</a:t>
            </a:r>
            <a:r>
              <a:rPr lang="en-US" sz="1000" dirty="0"/>
              <a:t> </a:t>
            </a:r>
            <a:r>
              <a:rPr lang="en-US" sz="1000" dirty="0" err="1"/>
              <a:t>starben</a:t>
            </a:r>
            <a:endParaRPr lang="en-US" sz="1000" dirty="0"/>
          </a:p>
          <a:p>
            <a:r>
              <a:rPr lang="en-US" sz="1000" dirty="0" err="1"/>
              <a:t>Warum</a:t>
            </a:r>
            <a:r>
              <a:rPr lang="en-US" sz="1000" dirty="0"/>
              <a:t> </a:t>
            </a:r>
            <a:r>
              <a:rPr lang="en-US" sz="1000" dirty="0" err="1"/>
              <a:t>hier</a:t>
            </a:r>
            <a:r>
              <a:rPr lang="en-US" sz="1000" dirty="0"/>
              <a:t>: </a:t>
            </a:r>
            <a:r>
              <a:rPr lang="en-US" sz="1000" dirty="0" err="1"/>
              <a:t>Wurde</a:t>
            </a:r>
            <a:r>
              <a:rPr lang="en-US" sz="1000" dirty="0"/>
              <a:t> </a:t>
            </a:r>
            <a:r>
              <a:rPr lang="en-US" sz="1000" dirty="0" err="1"/>
              <a:t>eingeladen</a:t>
            </a:r>
            <a:r>
              <a:rPr lang="en-US" sz="1000" dirty="0"/>
              <a:t> </a:t>
            </a:r>
            <a:r>
              <a:rPr lang="en-US" sz="1000" dirty="0" err="1"/>
              <a:t>ein</a:t>
            </a:r>
            <a:r>
              <a:rPr lang="en-US" sz="1000" dirty="0"/>
              <a:t> "</a:t>
            </a:r>
            <a:r>
              <a:rPr lang="en-US" sz="1000" dirty="0" err="1"/>
              <a:t>Reinigungsritual</a:t>
            </a:r>
            <a:r>
              <a:rPr lang="en-US" sz="1000" dirty="0"/>
              <a:t>" </a:t>
            </a:r>
            <a:r>
              <a:rPr lang="en-US" sz="1000" dirty="0" err="1"/>
              <a:t>durchzuführen</a:t>
            </a:r>
            <a:endParaRPr lang="en-US" sz="1000" dirty="0"/>
          </a:p>
          <a:p>
            <a:endParaRPr lang="en-US" sz="1000" dirty="0"/>
          </a:p>
          <a:p>
            <a:r>
              <a:rPr lang="en-US" sz="1000" dirty="0"/>
              <a:t>Maximilian "Max" Gold (42) - </a:t>
            </a:r>
            <a:r>
              <a:rPr lang="en-US" sz="1000" dirty="0" err="1"/>
              <a:t>Golfprofi</a:t>
            </a:r>
            <a:r>
              <a:rPr lang="en-US" sz="1000" dirty="0"/>
              <a:t> (Basti)</a:t>
            </a:r>
          </a:p>
          <a:p>
            <a:r>
              <a:rPr lang="en-US" sz="1000" dirty="0" err="1"/>
              <a:t>Beruf</a:t>
            </a:r>
            <a:r>
              <a:rPr lang="en-US" sz="1000" dirty="0"/>
              <a:t>: </a:t>
            </a:r>
            <a:r>
              <a:rPr lang="en-US" sz="1000" dirty="0" err="1"/>
              <a:t>Ehemaliger</a:t>
            </a:r>
            <a:r>
              <a:rPr lang="en-US" sz="1000" dirty="0"/>
              <a:t> </a:t>
            </a:r>
            <a:r>
              <a:rPr lang="en-US" sz="1000" dirty="0" err="1"/>
              <a:t>Profispieler</a:t>
            </a:r>
            <a:r>
              <a:rPr lang="en-US" sz="1000" dirty="0"/>
              <a:t>, </a:t>
            </a:r>
            <a:r>
              <a:rPr lang="en-US" sz="1000" dirty="0" err="1"/>
              <a:t>jetzt</a:t>
            </a:r>
            <a:r>
              <a:rPr lang="en-US" sz="1000" dirty="0"/>
              <a:t> </a:t>
            </a:r>
            <a:r>
              <a:rPr lang="en-US" sz="1000" dirty="0" err="1"/>
              <a:t>Golfplatz</a:t>
            </a:r>
            <a:r>
              <a:rPr lang="en-US" sz="1000" dirty="0"/>
              <a:t>-Designer</a:t>
            </a:r>
          </a:p>
          <a:p>
            <a:r>
              <a:rPr lang="en-US" sz="1000" dirty="0" err="1"/>
              <a:t>Äußeres</a:t>
            </a:r>
            <a:r>
              <a:rPr lang="en-US" sz="1000" dirty="0"/>
              <a:t>: </a:t>
            </a:r>
            <a:r>
              <a:rPr lang="en-US" sz="1000" dirty="0" err="1"/>
              <a:t>Gebräunt</a:t>
            </a:r>
            <a:r>
              <a:rPr lang="en-US" sz="1000" dirty="0"/>
              <a:t>, </a:t>
            </a:r>
            <a:r>
              <a:rPr lang="en-US" sz="1000" dirty="0" err="1"/>
              <a:t>perfekt</a:t>
            </a:r>
            <a:r>
              <a:rPr lang="en-US" sz="1000" dirty="0"/>
              <a:t> </a:t>
            </a:r>
            <a:r>
              <a:rPr lang="en-US" sz="1000" dirty="0" err="1"/>
              <a:t>gestylt</a:t>
            </a:r>
            <a:r>
              <a:rPr lang="en-US" sz="1000" dirty="0"/>
              <a:t>, Rolex, </a:t>
            </a:r>
            <a:r>
              <a:rPr lang="en-US" sz="1000" dirty="0" err="1"/>
              <a:t>Designerkleidung</a:t>
            </a:r>
            <a:endParaRPr lang="en-US" sz="1000" dirty="0"/>
          </a:p>
          <a:p>
            <a:r>
              <a:rPr lang="en-US" sz="1000" dirty="0" err="1"/>
              <a:t>Persönlichkeit</a:t>
            </a:r>
            <a:r>
              <a:rPr lang="en-US" sz="1000" dirty="0"/>
              <a:t>: Charmant, </a:t>
            </a:r>
            <a:r>
              <a:rPr lang="en-US" sz="1000" dirty="0" err="1"/>
              <a:t>oberflächlich</a:t>
            </a:r>
            <a:r>
              <a:rPr lang="en-US" sz="1000" dirty="0"/>
              <a:t> </a:t>
            </a:r>
            <a:r>
              <a:rPr lang="en-US" sz="1000" dirty="0" err="1"/>
              <a:t>wirkend</a:t>
            </a:r>
            <a:r>
              <a:rPr lang="en-US" sz="1000" dirty="0"/>
              <a:t>, </a:t>
            </a:r>
            <a:r>
              <a:rPr lang="en-US" sz="1000" dirty="0" err="1"/>
              <a:t>unterschätzt</a:t>
            </a:r>
            <a:endParaRPr lang="en-US" sz="1000" dirty="0"/>
          </a:p>
          <a:p>
            <a:r>
              <a:rPr lang="en-US" sz="1000" dirty="0" err="1"/>
              <a:t>Geheimnis</a:t>
            </a:r>
            <a:r>
              <a:rPr lang="en-US" sz="1000" dirty="0"/>
              <a:t>: Massive </a:t>
            </a:r>
            <a:r>
              <a:rPr lang="en-US" sz="1000" dirty="0" err="1"/>
              <a:t>Spielschulden</a:t>
            </a:r>
            <a:r>
              <a:rPr lang="en-US" sz="1000" dirty="0"/>
              <a:t>, </a:t>
            </a:r>
            <a:r>
              <a:rPr lang="en-US" sz="1000" dirty="0" err="1"/>
              <a:t>braucht</a:t>
            </a:r>
            <a:r>
              <a:rPr lang="en-US" sz="1000" dirty="0"/>
              <a:t> </a:t>
            </a:r>
            <a:r>
              <a:rPr lang="en-US" sz="1000" dirty="0" err="1"/>
              <a:t>dringend</a:t>
            </a:r>
            <a:r>
              <a:rPr lang="en-US" sz="1000" dirty="0"/>
              <a:t> </a:t>
            </a:r>
            <a:r>
              <a:rPr lang="en-US" sz="1000" dirty="0" err="1"/>
              <a:t>einen</a:t>
            </a:r>
            <a:r>
              <a:rPr lang="en-US" sz="1000" dirty="0"/>
              <a:t> </a:t>
            </a:r>
            <a:r>
              <a:rPr lang="en-US" sz="1000" dirty="0" err="1"/>
              <a:t>großen</a:t>
            </a:r>
            <a:r>
              <a:rPr lang="en-US" sz="1000" dirty="0"/>
              <a:t> Deal</a:t>
            </a:r>
          </a:p>
          <a:p>
            <a:r>
              <a:rPr lang="en-US" sz="1000" dirty="0" err="1"/>
              <a:t>Warum</a:t>
            </a:r>
            <a:r>
              <a:rPr lang="en-US" sz="1000" dirty="0"/>
              <a:t> </a:t>
            </a:r>
            <a:r>
              <a:rPr lang="en-US" sz="1000" dirty="0" err="1"/>
              <a:t>hier</a:t>
            </a:r>
            <a:r>
              <a:rPr lang="en-US" sz="1000" dirty="0"/>
              <a:t>: Plant </a:t>
            </a:r>
            <a:r>
              <a:rPr lang="en-US" sz="1000" dirty="0" err="1"/>
              <a:t>angeblich</a:t>
            </a:r>
            <a:r>
              <a:rPr lang="en-US" sz="1000" dirty="0"/>
              <a:t> </a:t>
            </a:r>
            <a:r>
              <a:rPr lang="en-US" sz="1000" dirty="0" err="1"/>
              <a:t>einen</a:t>
            </a:r>
            <a:r>
              <a:rPr lang="en-US" sz="1000" dirty="0"/>
              <a:t> </a:t>
            </a:r>
            <a:r>
              <a:rPr lang="en-US" sz="1000" dirty="0" err="1"/>
              <a:t>Golfplatz</a:t>
            </a:r>
            <a:r>
              <a:rPr lang="en-US" sz="1000" dirty="0"/>
              <a:t> in </a:t>
            </a:r>
            <a:r>
              <a:rPr lang="en-US" sz="1000" dirty="0" err="1"/>
              <a:t>Hotelnähe</a:t>
            </a:r>
            <a:endParaRPr lang="en-US" sz="1000" dirty="0"/>
          </a:p>
          <a:p>
            <a:endParaRPr lang="en-US" sz="1000" dirty="0"/>
          </a:p>
          <a:p>
            <a:r>
              <a:rPr lang="en-US" sz="1000" dirty="0"/>
              <a:t>Tom Greenwood (35) - </a:t>
            </a:r>
            <a:r>
              <a:rPr lang="en-US" sz="1000" dirty="0" err="1"/>
              <a:t>Förster</a:t>
            </a:r>
            <a:r>
              <a:rPr lang="en-US" sz="1000" dirty="0"/>
              <a:t> (Lorenz)</a:t>
            </a:r>
          </a:p>
          <a:p>
            <a:r>
              <a:rPr lang="en-US" sz="1000" dirty="0" err="1"/>
              <a:t>Beruf</a:t>
            </a:r>
            <a:r>
              <a:rPr lang="en-US" sz="1000" dirty="0"/>
              <a:t>: </a:t>
            </a:r>
            <a:r>
              <a:rPr lang="en-US" sz="1000" dirty="0" err="1"/>
              <a:t>Revierförster</a:t>
            </a:r>
            <a:r>
              <a:rPr lang="en-US" sz="1000" dirty="0"/>
              <a:t> des </a:t>
            </a:r>
            <a:r>
              <a:rPr lang="en-US" sz="1000" dirty="0" err="1"/>
              <a:t>angrenzenden</a:t>
            </a:r>
            <a:r>
              <a:rPr lang="en-US" sz="1000" dirty="0"/>
              <a:t> </a:t>
            </a:r>
            <a:r>
              <a:rPr lang="en-US" sz="1000" dirty="0" err="1"/>
              <a:t>Schutzgebiets</a:t>
            </a:r>
            <a:endParaRPr lang="en-US" sz="1000" dirty="0"/>
          </a:p>
          <a:p>
            <a:r>
              <a:rPr lang="en-US" sz="1000" dirty="0" err="1"/>
              <a:t>Äußeres</a:t>
            </a:r>
            <a:r>
              <a:rPr lang="en-US" sz="1000" dirty="0"/>
              <a:t>: </a:t>
            </a:r>
            <a:r>
              <a:rPr lang="en-US" sz="1000" dirty="0" err="1"/>
              <a:t>Wettergegerbtes</a:t>
            </a:r>
            <a:r>
              <a:rPr lang="en-US" sz="1000" dirty="0"/>
              <a:t> </a:t>
            </a:r>
            <a:r>
              <a:rPr lang="en-US" sz="1000" dirty="0" err="1"/>
              <a:t>Gesicht</a:t>
            </a:r>
            <a:r>
              <a:rPr lang="en-US" sz="1000" dirty="0"/>
              <a:t>, </a:t>
            </a:r>
            <a:r>
              <a:rPr lang="en-US" sz="1000" dirty="0" err="1"/>
              <a:t>Vollbart</a:t>
            </a:r>
            <a:r>
              <a:rPr lang="en-US" sz="1000" dirty="0"/>
              <a:t>, </a:t>
            </a:r>
            <a:r>
              <a:rPr lang="en-US" sz="1000" dirty="0" err="1"/>
              <a:t>robuste</a:t>
            </a:r>
            <a:r>
              <a:rPr lang="en-US" sz="1000" dirty="0"/>
              <a:t> Outdoor-</a:t>
            </a:r>
            <a:r>
              <a:rPr lang="en-US" sz="1000" dirty="0" err="1"/>
              <a:t>Kleidung</a:t>
            </a:r>
            <a:endParaRPr lang="en-US" sz="1000" dirty="0"/>
          </a:p>
          <a:p>
            <a:r>
              <a:rPr lang="en-US" sz="1000" dirty="0" err="1"/>
              <a:t>Persönlichkeit</a:t>
            </a:r>
            <a:r>
              <a:rPr lang="en-US" sz="1000" dirty="0"/>
              <a:t>: </a:t>
            </a:r>
            <a:r>
              <a:rPr lang="en-US" sz="1000" dirty="0" err="1"/>
              <a:t>Schweigsam</a:t>
            </a:r>
            <a:r>
              <a:rPr lang="en-US" sz="1000" dirty="0"/>
              <a:t>, </a:t>
            </a:r>
            <a:r>
              <a:rPr lang="en-US" sz="1000" dirty="0" err="1"/>
              <a:t>naturverbunden</a:t>
            </a:r>
            <a:r>
              <a:rPr lang="en-US" sz="1000" dirty="0"/>
              <a:t>, </a:t>
            </a:r>
            <a:r>
              <a:rPr lang="en-US" sz="1000" dirty="0" err="1"/>
              <a:t>misstrauisch</a:t>
            </a:r>
            <a:r>
              <a:rPr lang="en-US" sz="1000" dirty="0"/>
              <a:t> </a:t>
            </a:r>
            <a:r>
              <a:rPr lang="en-US" sz="1000" dirty="0" err="1"/>
              <a:t>gegenüber</a:t>
            </a:r>
            <a:r>
              <a:rPr lang="en-US" sz="1000" dirty="0"/>
              <a:t> </a:t>
            </a:r>
            <a:r>
              <a:rPr lang="en-US" sz="1000" dirty="0" err="1"/>
              <a:t>Fremden</a:t>
            </a:r>
            <a:r>
              <a:rPr lang="en-US" sz="1000" dirty="0"/>
              <a:t> und gerne </a:t>
            </a:r>
            <a:r>
              <a:rPr lang="en-US" sz="1000" dirty="0" err="1"/>
              <a:t>auch</a:t>
            </a:r>
            <a:r>
              <a:rPr lang="en-US" sz="1000" dirty="0"/>
              <a:t> mal </a:t>
            </a:r>
            <a:r>
              <a:rPr lang="en-US" sz="1000" dirty="0" err="1"/>
              <a:t>mit</a:t>
            </a:r>
            <a:r>
              <a:rPr lang="en-US" sz="1000" dirty="0"/>
              <a:t> </a:t>
            </a:r>
            <a:r>
              <a:rPr lang="en-US" sz="1000" dirty="0" err="1"/>
              <a:t>wenig</a:t>
            </a:r>
            <a:r>
              <a:rPr lang="en-US" sz="1000" dirty="0"/>
              <a:t> </a:t>
            </a:r>
            <a:r>
              <a:rPr lang="en-US" sz="1000" dirty="0" err="1"/>
              <a:t>Kleidung</a:t>
            </a:r>
            <a:r>
              <a:rPr lang="en-US" sz="1000" dirty="0"/>
              <a:t> </a:t>
            </a:r>
            <a:r>
              <a:rPr lang="en-US" sz="1000" dirty="0" err="1"/>
              <a:t>Nachts</a:t>
            </a:r>
            <a:r>
              <a:rPr lang="en-US" sz="1000" dirty="0"/>
              <a:t> </a:t>
            </a:r>
            <a:r>
              <a:rPr lang="en-US" sz="1000" dirty="0" err="1"/>
              <a:t>unterwegs</a:t>
            </a:r>
            <a:endParaRPr lang="en-US" sz="1000" dirty="0"/>
          </a:p>
          <a:p>
            <a:r>
              <a:rPr lang="en-US" sz="1000" dirty="0" err="1"/>
              <a:t>Geheimnis</a:t>
            </a:r>
            <a:r>
              <a:rPr lang="en-US" sz="1000" dirty="0"/>
              <a:t>: Hat in </a:t>
            </a:r>
            <a:r>
              <a:rPr lang="en-US" sz="1000" dirty="0" err="1"/>
              <a:t>letzter</a:t>
            </a:r>
            <a:r>
              <a:rPr lang="en-US" sz="1000" dirty="0"/>
              <a:t> Zeit </a:t>
            </a:r>
            <a:r>
              <a:rPr lang="en-US" sz="1000" dirty="0" err="1"/>
              <a:t>seltsame</a:t>
            </a:r>
            <a:r>
              <a:rPr lang="en-US" sz="1000" dirty="0"/>
              <a:t> </a:t>
            </a:r>
            <a:r>
              <a:rPr lang="en-US" sz="1000" dirty="0" err="1"/>
              <a:t>Tierkadaver</a:t>
            </a:r>
            <a:r>
              <a:rPr lang="en-US" sz="1000" dirty="0"/>
              <a:t> </a:t>
            </a:r>
            <a:r>
              <a:rPr lang="en-US" sz="1000" dirty="0" err="1"/>
              <a:t>im</a:t>
            </a:r>
            <a:r>
              <a:rPr lang="en-US" sz="1000" dirty="0"/>
              <a:t> Wald </a:t>
            </a:r>
            <a:r>
              <a:rPr lang="en-US" sz="1000" dirty="0" err="1"/>
              <a:t>gefunden</a:t>
            </a:r>
            <a:endParaRPr lang="en-US" sz="1000" dirty="0"/>
          </a:p>
          <a:p>
            <a:r>
              <a:rPr lang="en-US" sz="1000" dirty="0" err="1"/>
              <a:t>Warum</a:t>
            </a:r>
            <a:r>
              <a:rPr lang="en-US" sz="1000" dirty="0"/>
              <a:t> </a:t>
            </a:r>
            <a:r>
              <a:rPr lang="en-US" sz="1000" dirty="0" err="1"/>
              <a:t>hier</a:t>
            </a:r>
            <a:r>
              <a:rPr lang="en-US" sz="1000" dirty="0"/>
              <a:t>: Will die </a:t>
            </a:r>
            <a:r>
              <a:rPr lang="en-US" sz="1000" dirty="0" err="1"/>
              <a:t>Hotelpläne</a:t>
            </a:r>
            <a:r>
              <a:rPr lang="en-US" sz="1000" dirty="0"/>
              <a:t> </a:t>
            </a:r>
            <a:r>
              <a:rPr lang="en-US" sz="1000" dirty="0" err="1"/>
              <a:t>überwachen</a:t>
            </a:r>
            <a:r>
              <a:rPr lang="en-US" sz="1000" dirty="0"/>
              <a:t> - </a:t>
            </a:r>
            <a:r>
              <a:rPr lang="en-US" sz="1000" dirty="0" err="1"/>
              <a:t>Naturschutz</a:t>
            </a:r>
            <a:r>
              <a:rPr lang="en-US" sz="1000" dirty="0"/>
              <a:t> </a:t>
            </a:r>
            <a:r>
              <a:rPr lang="en-US" sz="1000" dirty="0" err="1"/>
              <a:t>geht</a:t>
            </a:r>
            <a:r>
              <a:rPr lang="en-US" sz="1000" dirty="0"/>
              <a:t> </a:t>
            </a:r>
            <a:r>
              <a:rPr lang="en-US" sz="1000" dirty="0" err="1"/>
              <a:t>vor</a:t>
            </a:r>
            <a:endParaRPr lang="en-US" sz="1000" dirty="0"/>
          </a:p>
          <a:p>
            <a:endParaRPr lang="en-US" sz="1000" dirty="0"/>
          </a:p>
          <a:p>
            <a:r>
              <a:rPr lang="en-US" sz="1000" dirty="0"/>
              <a:t>Maria Gonzalez (29) - </a:t>
            </a:r>
            <a:r>
              <a:rPr lang="en-US" sz="1000" dirty="0" err="1"/>
              <a:t>Dolmetscherin</a:t>
            </a:r>
            <a:r>
              <a:rPr lang="en-US" sz="1000" dirty="0"/>
              <a:t> (Lina)</a:t>
            </a:r>
          </a:p>
          <a:p>
            <a:r>
              <a:rPr lang="en-US" sz="1000" dirty="0" err="1"/>
              <a:t>Beruf</a:t>
            </a:r>
            <a:r>
              <a:rPr lang="en-US" sz="1000" dirty="0"/>
              <a:t>: Freelance-</a:t>
            </a:r>
            <a:r>
              <a:rPr lang="en-US" sz="1000" dirty="0" err="1"/>
              <a:t>Übersetzerin</a:t>
            </a:r>
            <a:r>
              <a:rPr lang="en-US" sz="1000" dirty="0"/>
              <a:t> </a:t>
            </a:r>
            <a:r>
              <a:rPr lang="en-US" sz="1000" dirty="0" err="1"/>
              <a:t>für</a:t>
            </a:r>
            <a:r>
              <a:rPr lang="en-US" sz="1000" dirty="0"/>
              <a:t> 7 </a:t>
            </a:r>
            <a:r>
              <a:rPr lang="en-US" sz="1000" dirty="0" err="1"/>
              <a:t>Sprachen</a:t>
            </a:r>
            <a:endParaRPr lang="en-US" sz="1000" dirty="0"/>
          </a:p>
          <a:p>
            <a:r>
              <a:rPr lang="en-US" sz="1000" dirty="0" err="1"/>
              <a:t>Äußeres</a:t>
            </a:r>
            <a:r>
              <a:rPr lang="en-US" sz="1000" dirty="0"/>
              <a:t>: Elegant, </a:t>
            </a:r>
            <a:r>
              <a:rPr lang="en-US" sz="1000" dirty="0" err="1"/>
              <a:t>dezentes</a:t>
            </a:r>
            <a:r>
              <a:rPr lang="en-US" sz="1000" dirty="0"/>
              <a:t> Make-up, stets </a:t>
            </a:r>
            <a:r>
              <a:rPr lang="en-US" sz="1000" dirty="0" err="1"/>
              <a:t>mit</a:t>
            </a:r>
            <a:r>
              <a:rPr lang="en-US" sz="1000" dirty="0"/>
              <a:t> Tablet </a:t>
            </a:r>
            <a:r>
              <a:rPr lang="en-US" sz="1000" dirty="0" err="1"/>
              <a:t>oder</a:t>
            </a:r>
            <a:r>
              <a:rPr lang="en-US" sz="1000" dirty="0"/>
              <a:t> smartphone</a:t>
            </a:r>
          </a:p>
          <a:p>
            <a:r>
              <a:rPr lang="en-US" sz="1000" dirty="0" err="1"/>
              <a:t>Persönlichkeit</a:t>
            </a:r>
            <a:r>
              <a:rPr lang="en-US" sz="1000" dirty="0"/>
              <a:t>: </a:t>
            </a:r>
            <a:r>
              <a:rPr lang="en-US" sz="1000" dirty="0" err="1"/>
              <a:t>Aufmerksam</a:t>
            </a:r>
            <a:r>
              <a:rPr lang="en-US" sz="1000" dirty="0"/>
              <a:t>, </a:t>
            </a:r>
            <a:r>
              <a:rPr lang="en-US" sz="1000" dirty="0" err="1"/>
              <a:t>merkt</a:t>
            </a:r>
            <a:r>
              <a:rPr lang="en-US" sz="1000" dirty="0"/>
              <a:t> </a:t>
            </a:r>
            <a:r>
              <a:rPr lang="en-US" sz="1000" dirty="0" err="1"/>
              <a:t>sich</a:t>
            </a:r>
            <a:r>
              <a:rPr lang="en-US" sz="1000" dirty="0"/>
              <a:t> </a:t>
            </a:r>
            <a:r>
              <a:rPr lang="en-US" sz="1000" dirty="0" err="1"/>
              <a:t>jedes</a:t>
            </a:r>
            <a:r>
              <a:rPr lang="en-US" sz="1000" dirty="0"/>
              <a:t> Detail, </a:t>
            </a:r>
            <a:r>
              <a:rPr lang="en-US" sz="1000" dirty="0" err="1"/>
              <a:t>diplomatisch</a:t>
            </a:r>
            <a:endParaRPr lang="en-US" sz="1000" dirty="0"/>
          </a:p>
          <a:p>
            <a:r>
              <a:rPr lang="en-US" sz="1000" dirty="0" err="1"/>
              <a:t>Geheimnis</a:t>
            </a:r>
            <a:r>
              <a:rPr lang="en-US" sz="1000" dirty="0"/>
              <a:t>: </a:t>
            </a:r>
            <a:r>
              <a:rPr lang="en-US" sz="1000" dirty="0" err="1"/>
              <a:t>Arbeitet</a:t>
            </a:r>
            <a:r>
              <a:rPr lang="en-US" sz="1000" dirty="0"/>
              <a:t> </a:t>
            </a:r>
            <a:r>
              <a:rPr lang="en-US" sz="1000" dirty="0" err="1"/>
              <a:t>gelegentlich</a:t>
            </a:r>
            <a:r>
              <a:rPr lang="en-US" sz="1000" dirty="0"/>
              <a:t> </a:t>
            </a:r>
            <a:r>
              <a:rPr lang="en-US" sz="1000" dirty="0" err="1"/>
              <a:t>für</a:t>
            </a:r>
            <a:r>
              <a:rPr lang="en-US" sz="1000" dirty="0"/>
              <a:t> </a:t>
            </a:r>
            <a:r>
              <a:rPr lang="en-US" sz="1000" dirty="0" err="1"/>
              <a:t>Geheimdienste</a:t>
            </a:r>
            <a:endParaRPr lang="en-US" sz="1000" dirty="0"/>
          </a:p>
          <a:p>
            <a:r>
              <a:rPr lang="en-US" sz="1000" dirty="0" err="1"/>
              <a:t>Warum</a:t>
            </a:r>
            <a:r>
              <a:rPr lang="en-US" sz="1000" dirty="0"/>
              <a:t> </a:t>
            </a:r>
            <a:r>
              <a:rPr lang="en-US" sz="1000" dirty="0" err="1"/>
              <a:t>hier</a:t>
            </a:r>
            <a:r>
              <a:rPr lang="en-US" sz="1000" dirty="0"/>
              <a:t>: </a:t>
            </a:r>
            <a:r>
              <a:rPr lang="en-US" sz="1000" dirty="0" err="1"/>
              <a:t>Übersetzt</a:t>
            </a:r>
            <a:r>
              <a:rPr lang="en-US" sz="1000" dirty="0"/>
              <a:t> </a:t>
            </a:r>
            <a:r>
              <a:rPr lang="en-US" sz="1000" dirty="0" err="1"/>
              <a:t>für</a:t>
            </a:r>
            <a:r>
              <a:rPr lang="en-US" sz="1000" dirty="0"/>
              <a:t> </a:t>
            </a:r>
            <a:r>
              <a:rPr lang="en-US" sz="1000" dirty="0" err="1"/>
              <a:t>einen</a:t>
            </a:r>
            <a:r>
              <a:rPr lang="en-US" sz="1000" dirty="0"/>
              <a:t> </a:t>
            </a:r>
            <a:r>
              <a:rPr lang="en-US" sz="1000" dirty="0" err="1"/>
              <a:t>anonymen</a:t>
            </a:r>
            <a:r>
              <a:rPr lang="en-US" sz="1000" dirty="0"/>
              <a:t> Investor </a:t>
            </a:r>
            <a:r>
              <a:rPr lang="en-US" sz="1000" dirty="0" err="1"/>
              <a:t>aus</a:t>
            </a:r>
            <a:r>
              <a:rPr lang="en-US" sz="1000" dirty="0"/>
              <a:t> </a:t>
            </a:r>
            <a:r>
              <a:rPr lang="en-US" sz="1000" dirty="0" err="1"/>
              <a:t>Russland</a:t>
            </a:r>
            <a:endParaRPr lang="en-US" sz="1000" dirty="0"/>
          </a:p>
        </p:txBody>
      </p:sp>
    </p:spTree>
    <p:extLst>
      <p:ext uri="{BB962C8B-B14F-4D97-AF65-F5344CB8AC3E}">
        <p14:creationId xmlns:p14="http://schemas.microsoft.com/office/powerpoint/2010/main" val="28988581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en-US" dirty="0" err="1"/>
              <a:t>Kleine</a:t>
            </a:r>
            <a:r>
              <a:rPr lang="en-US" dirty="0"/>
              <a:t> </a:t>
            </a:r>
            <a:r>
              <a:rPr lang="en-US" dirty="0" err="1"/>
              <a:t>Aufgaben</a:t>
            </a:r>
            <a:endParaRPr lang="en-US" dirty="0"/>
          </a:p>
        </p:txBody>
      </p:sp>
      <p:sp>
        <p:nvSpPr>
          <p:cNvPr id="4" name="Textfeld 3">
            <a:extLst>
              <a:ext uri="{FF2B5EF4-FFF2-40B4-BE49-F238E27FC236}">
                <a16:creationId xmlns:a16="http://schemas.microsoft.com/office/drawing/2014/main" id="{5AF57006-7814-43DD-9019-99ED32641492}"/>
              </a:ext>
            </a:extLst>
          </p:cNvPr>
          <p:cNvSpPr txBox="1"/>
          <p:nvPr/>
        </p:nvSpPr>
        <p:spPr>
          <a:xfrm>
            <a:off x="312821" y="1134299"/>
            <a:ext cx="5317957" cy="5632311"/>
          </a:xfrm>
          <a:prstGeom prst="rect">
            <a:avLst/>
          </a:prstGeom>
          <a:noFill/>
        </p:spPr>
        <p:txBody>
          <a:bodyPr wrap="square">
            <a:spAutoFit/>
          </a:bodyPr>
          <a:lstStyle/>
          <a:p>
            <a:r>
              <a:rPr lang="de-DE" sz="900" dirty="0"/>
              <a:t>1</a:t>
            </a:r>
            <a:r>
              <a:rPr lang="de-DE" sz="900" dirty="0">
                <a:highlight>
                  <a:srgbClr val="00FF00"/>
                </a:highlight>
              </a:rPr>
              <a:t>. Dr. Sarah Chen – Notärztin</a:t>
            </a:r>
          </a:p>
          <a:p>
            <a:pPr marL="171450" indent="-171450">
              <a:buFont typeface="Arial" panose="020B0604020202020204" pitchFamily="34" charset="0"/>
              <a:buChar char="•"/>
            </a:pPr>
            <a:r>
              <a:rPr lang="de-DE" sz="900" dirty="0"/>
              <a:t>Kontroverse: Heimliche Vergangenheit mit mysteriösem Vorfall</a:t>
            </a:r>
          </a:p>
          <a:p>
            <a:pPr marL="171450" indent="-171450">
              <a:buFont typeface="Arial" panose="020B0604020202020204" pitchFamily="34" charset="0"/>
              <a:buChar char="•"/>
            </a:pPr>
            <a:r>
              <a:rPr lang="de-DE" sz="900" dirty="0"/>
              <a:t>Sprich mit Luna darüber ob sie an das Leben nach dem Tod glaubt und ob die Seelen derer die man nicht retten konnte uns gerade sehen können</a:t>
            </a:r>
          </a:p>
          <a:p>
            <a:pPr marL="171450" indent="-171450">
              <a:buFont typeface="Arial" panose="020B0604020202020204" pitchFamily="34" charset="0"/>
              <a:buChar char="•"/>
            </a:pPr>
            <a:r>
              <a:rPr lang="de-DE" sz="900" dirty="0"/>
              <a:t>Beobachte, dass die Frau Elise </a:t>
            </a:r>
            <a:r>
              <a:rPr lang="de-DE" sz="900" dirty="0" err="1"/>
              <a:t>Montando</a:t>
            </a:r>
            <a:r>
              <a:rPr lang="de-DE" sz="900" dirty="0"/>
              <a:t> den Vincent ständig so komisch anschaut und frag ihn warum und ob er die von früher kennt. Danach frag ihn was er denn eigentlich so beruflich macht.</a:t>
            </a:r>
          </a:p>
          <a:p>
            <a:endParaRPr lang="de-DE" sz="900" dirty="0"/>
          </a:p>
          <a:p>
            <a:r>
              <a:rPr lang="de-DE" sz="900" dirty="0"/>
              <a:t>2. </a:t>
            </a:r>
            <a:r>
              <a:rPr lang="de-DE" sz="900" dirty="0">
                <a:highlight>
                  <a:srgbClr val="00FF00"/>
                </a:highlight>
              </a:rPr>
              <a:t>Luna Silbermann – Esoterikerin</a:t>
            </a:r>
          </a:p>
          <a:p>
            <a:pPr marL="171450" indent="-171450">
              <a:buFont typeface="Arial" panose="020B0604020202020204" pitchFamily="34" charset="0"/>
              <a:buChar char="•"/>
            </a:pPr>
            <a:r>
              <a:rPr lang="de-DE" sz="900" dirty="0"/>
              <a:t>Kontroverse: Familie mit dunkler Hotelgeschichte – Vater und Tante starben 1991</a:t>
            </a:r>
          </a:p>
          <a:p>
            <a:pPr marL="171450" indent="-171450">
              <a:buFont typeface="Arial" panose="020B0604020202020204" pitchFamily="34" charset="0"/>
              <a:buChar char="•"/>
            </a:pPr>
            <a:r>
              <a:rPr lang="de-DE" sz="900" dirty="0"/>
              <a:t>Bitte Antonio, dein Mondstein-Amulett zu halten und beobachte, ob er darauf ungewöhnlich reagiert; sag ihm beiläufig, dass deine Großmutter hier Schlimmes erlebte. Frag ihn außerdem noch warum er den Koch vorhin als alle ankamen so zur Sau gemacht hat von wegen DSGVO.</a:t>
            </a:r>
          </a:p>
          <a:p>
            <a:pPr marL="171450" indent="-171450">
              <a:buFont typeface="Arial" panose="020B0604020202020204" pitchFamily="34" charset="0"/>
              <a:buChar char="•"/>
            </a:pPr>
            <a:r>
              <a:rPr lang="de-DE" sz="900" dirty="0"/>
              <a:t>Zupfe immer wieder an der schlechten Aura von Leuten um dich herum wenn es ihnen auffällt geh kommentarlos weg</a:t>
            </a:r>
          </a:p>
          <a:p>
            <a:endParaRPr lang="de-DE" sz="900" dirty="0"/>
          </a:p>
          <a:p>
            <a:r>
              <a:rPr lang="de-DE" sz="900" dirty="0"/>
              <a:t>3. </a:t>
            </a:r>
            <a:r>
              <a:rPr lang="de-DE" sz="900" dirty="0">
                <a:highlight>
                  <a:srgbClr val="00FF00"/>
                </a:highlight>
              </a:rPr>
              <a:t>Maximilian „Max“ Gold – Golfprofi</a:t>
            </a:r>
          </a:p>
          <a:p>
            <a:pPr marL="171450" indent="-171450">
              <a:buFont typeface="Arial" panose="020B0604020202020204" pitchFamily="34" charset="0"/>
              <a:buChar char="•"/>
            </a:pPr>
            <a:r>
              <a:rPr lang="de-DE" sz="900" dirty="0"/>
              <a:t>Kontroverse: Überschuldung / Fassade des Erfolgs</a:t>
            </a:r>
          </a:p>
          <a:p>
            <a:pPr marL="171450" indent="-171450">
              <a:buFont typeface="Arial" panose="020B0604020202020204" pitchFamily="34" charset="0"/>
              <a:buChar char="•"/>
            </a:pPr>
            <a:r>
              <a:rPr lang="de-DE" sz="900" dirty="0"/>
              <a:t>Du möchtest mit Viktoria reden, merkst aber, dass sie immer wieder nervöse Blicke zu Dimitri Volkov wirft. Das ist dir aber egal. Überzeuge Viktoria davon, dass ein Sportprojekt die Region retten könnte – und reagiere übertrieben empfindlich, wenn sie nach Kosten fragt.</a:t>
            </a:r>
          </a:p>
          <a:p>
            <a:pPr marL="171450" indent="-171450">
              <a:buFont typeface="Arial" panose="020B0604020202020204" pitchFamily="34" charset="0"/>
              <a:buChar char="•"/>
            </a:pPr>
            <a:r>
              <a:rPr lang="de-DE" sz="900" dirty="0"/>
              <a:t>Mach immer mal wieder Trockenübungen um deinen Schlag zu perfektionieren</a:t>
            </a:r>
          </a:p>
          <a:p>
            <a:pPr marL="171450" indent="-171450">
              <a:buFont typeface="Arial" panose="020B0604020202020204" pitchFamily="34" charset="0"/>
              <a:buChar char="•"/>
            </a:pPr>
            <a:r>
              <a:rPr lang="de-DE" sz="900" dirty="0"/>
              <a:t>Als du Alex, fragen möchtest, ob seine KI „Zahlungsströme optimieren“ könnte – rein hypothetisch – siehst du ihn in einem Gespräch mit dem Hotelier. Dir fällt auf dass der Hotelier ständig den Kopf schüttelt und dann weggeht. Als du bei Alex ankommst wirkt er bedröppelt.</a:t>
            </a:r>
          </a:p>
          <a:p>
            <a:endParaRPr lang="de-DE" sz="900" dirty="0"/>
          </a:p>
          <a:p>
            <a:r>
              <a:rPr lang="de-DE" sz="900" dirty="0"/>
              <a:t>4. </a:t>
            </a:r>
            <a:r>
              <a:rPr lang="de-DE" sz="900" dirty="0">
                <a:highlight>
                  <a:srgbClr val="00FF00"/>
                </a:highlight>
              </a:rPr>
              <a:t>Tom Greenwood – Förster</a:t>
            </a:r>
          </a:p>
          <a:p>
            <a:pPr marL="171450" indent="-171450">
              <a:buFont typeface="Arial" panose="020B0604020202020204" pitchFamily="34" charset="0"/>
              <a:buChar char="•"/>
            </a:pPr>
            <a:r>
              <a:rPr lang="de-DE" sz="900" dirty="0"/>
              <a:t>Kontroverse: Geheimnisvolle Tierkadaver im Revier</a:t>
            </a:r>
          </a:p>
          <a:p>
            <a:pPr marL="171450" indent="-171450">
              <a:buFont typeface="Arial" panose="020B0604020202020204" pitchFamily="34" charset="0"/>
              <a:buChar char="•"/>
            </a:pPr>
            <a:r>
              <a:rPr lang="de-DE" sz="900" dirty="0"/>
              <a:t>Unterhalte dich mit Sarah über ungewöhnliche Dinge, die man als Ersthelferin sehen kann – vergleiche sie mit „komischen Spuren“ im Wald, die du letztens gefunden hast, aber bleib vage. Wenn Sie </a:t>
            </a:r>
            <a:r>
              <a:rPr lang="de-DE" sz="900" dirty="0" err="1"/>
              <a:t>zuviel</a:t>
            </a:r>
            <a:r>
              <a:rPr lang="de-DE" sz="900" dirty="0"/>
              <a:t> nachfrägt gehe einfach kommentarlos.</a:t>
            </a:r>
          </a:p>
          <a:p>
            <a:pPr marL="171450" indent="-171450">
              <a:buFont typeface="Arial" panose="020B0604020202020204" pitchFamily="34" charset="0"/>
              <a:buChar char="•"/>
            </a:pPr>
            <a:r>
              <a:rPr lang="de-DE" sz="900" dirty="0"/>
              <a:t>Diskutiere mit Max über Umweltschutz – erwähne, dass du kürzlich sogar eine Fritteuse mitten im Wald etwas gefunden hast die voller Tierhaare war und du glaubst, dass ein Bär oder Wolf das alte Bratfett gegessen hat.</a:t>
            </a:r>
          </a:p>
          <a:p>
            <a:endParaRPr lang="de-DE" sz="900" dirty="0"/>
          </a:p>
          <a:p>
            <a:r>
              <a:rPr lang="de-DE" sz="900" dirty="0"/>
              <a:t>5. </a:t>
            </a:r>
            <a:r>
              <a:rPr lang="de-DE" sz="900" dirty="0">
                <a:highlight>
                  <a:srgbClr val="00FF00"/>
                </a:highlight>
              </a:rPr>
              <a:t>Maria Gonzalez – Dolmetscherin</a:t>
            </a:r>
          </a:p>
          <a:p>
            <a:pPr marL="171450" indent="-171450">
              <a:buFont typeface="Arial" panose="020B0604020202020204" pitchFamily="34" charset="0"/>
              <a:buChar char="•"/>
            </a:pPr>
            <a:r>
              <a:rPr lang="de-DE" sz="900" dirty="0"/>
              <a:t>Kontroverse: arbeitet manchmal für Geheimdienste</a:t>
            </a:r>
          </a:p>
          <a:p>
            <a:pPr marL="171450" indent="-171450">
              <a:buFont typeface="Arial" panose="020B0604020202020204" pitchFamily="34" charset="0"/>
              <a:buChar char="•"/>
            </a:pPr>
            <a:r>
              <a:rPr lang="de-DE" sz="900" dirty="0"/>
              <a:t>Sprich mit Sarah darüber, dass du bei der Anreise im Netz einen Bericht zu einer Tragödie das Hotel betreffend gelesen hast was vor 3 Jahren passiert ist aber du nicht mehr Details dazu finden konntest.</a:t>
            </a:r>
          </a:p>
          <a:p>
            <a:pPr marL="171450" indent="-171450">
              <a:buFont typeface="Arial" panose="020B0604020202020204" pitchFamily="34" charset="0"/>
              <a:buChar char="•"/>
            </a:pPr>
            <a:r>
              <a:rPr lang="de-DE" sz="900" dirty="0"/>
              <a:t>Bitte Vincent, etwas auf Russisch vorzulesen (nimm einen zufälligen Text der dir einfällt oder rumliegt) – wirke irritiert, wenn er fragt, warum du das brauchst als sei das offensichtlich</a:t>
            </a:r>
          </a:p>
        </p:txBody>
      </p:sp>
      <p:sp>
        <p:nvSpPr>
          <p:cNvPr id="6" name="Textfeld 5">
            <a:extLst>
              <a:ext uri="{FF2B5EF4-FFF2-40B4-BE49-F238E27FC236}">
                <a16:creationId xmlns:a16="http://schemas.microsoft.com/office/drawing/2014/main" id="{86778A89-7744-47F6-9878-A32703BD1FEF}"/>
              </a:ext>
            </a:extLst>
          </p:cNvPr>
          <p:cNvSpPr txBox="1"/>
          <p:nvPr/>
        </p:nvSpPr>
        <p:spPr>
          <a:xfrm>
            <a:off x="5783179" y="1151453"/>
            <a:ext cx="6096000" cy="5632311"/>
          </a:xfrm>
          <a:prstGeom prst="rect">
            <a:avLst/>
          </a:prstGeom>
          <a:noFill/>
        </p:spPr>
        <p:txBody>
          <a:bodyPr wrap="square">
            <a:spAutoFit/>
          </a:bodyPr>
          <a:lstStyle/>
          <a:p>
            <a:r>
              <a:rPr lang="de-DE" sz="900" dirty="0"/>
              <a:t>6. </a:t>
            </a:r>
            <a:r>
              <a:rPr lang="de-DE" sz="900" dirty="0">
                <a:highlight>
                  <a:srgbClr val="00FF00"/>
                </a:highlight>
              </a:rPr>
              <a:t>Vincent Dubois – Lebemann</a:t>
            </a:r>
          </a:p>
          <a:p>
            <a:pPr marL="171450" indent="-171450">
              <a:buFont typeface="Arial" panose="020B0604020202020204" pitchFamily="34" charset="0"/>
              <a:buChar char="•"/>
            </a:pPr>
            <a:r>
              <a:rPr lang="de-DE" sz="900" dirty="0"/>
              <a:t>Kontroverse: heimliche Erpressungen</a:t>
            </a:r>
          </a:p>
          <a:p>
            <a:pPr marL="171450" indent="-171450">
              <a:buFont typeface="Arial" panose="020B0604020202020204" pitchFamily="34" charset="0"/>
              <a:buChar char="•"/>
            </a:pPr>
            <a:r>
              <a:rPr lang="de-DE" sz="900" dirty="0"/>
              <a:t>Unterhalte dich mit Pater Antonio ob er glaubt, dass der Herrgott wirklich jede Sünde vergibt und versuche dich ihm zu öffnen aber am Ende brichst du immer ab und wechselst das Thema. Z.B. über das Gerücht, dass man den Pater im Vatikan beurlaubt hat.</a:t>
            </a:r>
          </a:p>
          <a:p>
            <a:pPr marL="171450" indent="-171450">
              <a:buFont typeface="Arial" panose="020B0604020202020204" pitchFamily="34" charset="0"/>
              <a:buChar char="•"/>
            </a:pPr>
            <a:r>
              <a:rPr lang="de-DE" sz="900" dirty="0"/>
              <a:t>Beobachte Maria und Sarah genau und versuche sie immer Mal wieder zu belauschen</a:t>
            </a:r>
          </a:p>
          <a:p>
            <a:endParaRPr lang="de-DE" sz="900" dirty="0"/>
          </a:p>
          <a:p>
            <a:r>
              <a:rPr lang="de-DE" sz="900" dirty="0"/>
              <a:t>7. </a:t>
            </a:r>
            <a:r>
              <a:rPr lang="de-DE" sz="900" dirty="0">
                <a:highlight>
                  <a:srgbClr val="00FF00"/>
                </a:highlight>
              </a:rPr>
              <a:t>Alexa Steinberg – Tech-Entrepreneurin</a:t>
            </a:r>
          </a:p>
          <a:p>
            <a:pPr marL="171450" indent="-171450">
              <a:buFont typeface="Arial" panose="020B0604020202020204" pitchFamily="34" charset="0"/>
              <a:buChar char="•"/>
            </a:pPr>
            <a:r>
              <a:rPr lang="de-DE" sz="900" dirty="0"/>
              <a:t>Kontroverse: Firma steht vor dem Bankrott</a:t>
            </a:r>
          </a:p>
          <a:p>
            <a:pPr marL="171450" indent="-171450">
              <a:buFont typeface="Arial" panose="020B0604020202020204" pitchFamily="34" charset="0"/>
              <a:buChar char="•"/>
            </a:pPr>
            <a:r>
              <a:rPr lang="de-DE" sz="900" dirty="0"/>
              <a:t>Der Hotelier lehnt deine Automatisierungsidee leider ab. Nach deinem Gespräch mit ihm nervt dich dann Maximilian Gold noch mit einer komplett nutzlosen Idee du wirkst genervt und ablehnend.</a:t>
            </a:r>
          </a:p>
          <a:p>
            <a:pPr marL="171450" indent="-171450">
              <a:buFont typeface="Arial" panose="020B0604020202020204" pitchFamily="34" charset="0"/>
              <a:buChar char="•"/>
            </a:pPr>
            <a:r>
              <a:rPr lang="de-DE" sz="900" dirty="0"/>
              <a:t>Du siehst in Jazz ein verbündete als auch sie ziemlich entnervt ein Gespräch mit dem Hotelier beendet. Erzähl Jazz von deiner Hotelidee um zu fragen was denn ihr Anliegen beim </a:t>
            </a:r>
          </a:p>
          <a:p>
            <a:pPr marL="171450" indent="-171450">
              <a:buFont typeface="Arial" panose="020B0604020202020204" pitchFamily="34" charset="0"/>
              <a:buChar char="•"/>
            </a:pPr>
            <a:r>
              <a:rPr lang="de-DE" sz="900" dirty="0"/>
              <a:t>Beobachte Luna und Viktoria und nimm bei ihrer Diskussion zum Thema Essen keine klare Seite ein sondern Wechsel ständig deine Meinung.</a:t>
            </a:r>
          </a:p>
          <a:p>
            <a:endParaRPr lang="de-DE" sz="900" dirty="0"/>
          </a:p>
          <a:p>
            <a:r>
              <a:rPr lang="de-DE" sz="900" dirty="0"/>
              <a:t>8. </a:t>
            </a:r>
            <a:r>
              <a:rPr lang="de-DE" sz="900" dirty="0">
                <a:highlight>
                  <a:srgbClr val="00FF00"/>
                </a:highlight>
              </a:rPr>
              <a:t>Viktoria Lang – Bürgermeisterin</a:t>
            </a:r>
          </a:p>
          <a:p>
            <a:pPr marL="171450" indent="-171450">
              <a:buFont typeface="Arial" panose="020B0604020202020204" pitchFamily="34" charset="0"/>
              <a:buChar char="•"/>
            </a:pPr>
            <a:r>
              <a:rPr lang="de-DE" sz="900" dirty="0"/>
              <a:t>Kontroverse: Unterschlagung von Geldern</a:t>
            </a:r>
          </a:p>
          <a:p>
            <a:pPr marL="171450" indent="-171450">
              <a:buFont typeface="Arial" panose="020B0604020202020204" pitchFamily="34" charset="0"/>
              <a:buChar char="•"/>
            </a:pPr>
            <a:r>
              <a:rPr lang="de-DE" sz="900" dirty="0"/>
              <a:t>Sprich mit Luna darüber, dass du dich so richtig auf den Truthahn heute freust und Leute nicht verstehen kannst, die vegetarisch unterwegs sind.</a:t>
            </a:r>
          </a:p>
          <a:p>
            <a:pPr marL="171450" indent="-171450">
              <a:buFont typeface="Arial" panose="020B0604020202020204" pitchFamily="34" charset="0"/>
              <a:buChar char="•"/>
            </a:pPr>
            <a:r>
              <a:rPr lang="de-DE" sz="900" dirty="0"/>
              <a:t>Rede mit Vincent über Öffentlichkeitsarbeit – frag, wie man „unangenehme Fragen“ professionell überdeckt. Falls er fragt was du unter „unangenehm“ verstehst wink einfach ab und sag das würde jemand wie er nicht verstehen.</a:t>
            </a:r>
          </a:p>
          <a:p>
            <a:pPr marL="171450" indent="-171450">
              <a:buFont typeface="Arial" panose="020B0604020202020204" pitchFamily="34" charset="0"/>
              <a:buChar char="•"/>
            </a:pPr>
            <a:r>
              <a:rPr lang="de-DE" sz="900" dirty="0"/>
              <a:t>Versuch in jedem Gespräch mit den anderen Leuten Dimitri Volkov ein bisschen schlecht zu reden</a:t>
            </a:r>
          </a:p>
          <a:p>
            <a:endParaRPr lang="de-DE" sz="900" dirty="0"/>
          </a:p>
          <a:p>
            <a:r>
              <a:rPr lang="de-DE" sz="900" dirty="0"/>
              <a:t>9</a:t>
            </a:r>
            <a:r>
              <a:rPr lang="de-DE" sz="900" dirty="0">
                <a:highlight>
                  <a:srgbClr val="00FF00"/>
                </a:highlight>
              </a:rPr>
              <a:t>. Pater Antonio Benedetti – Priester</a:t>
            </a:r>
          </a:p>
          <a:p>
            <a:pPr marL="171450" indent="-171450">
              <a:buFont typeface="Arial" panose="020B0604020202020204" pitchFamily="34" charset="0"/>
              <a:buChar char="•"/>
            </a:pPr>
            <a:r>
              <a:rPr lang="de-DE" sz="900" dirty="0"/>
              <a:t>Kontroverse: Beurlaubt, okkulte Texte im Vatikan</a:t>
            </a:r>
          </a:p>
          <a:p>
            <a:pPr marL="171450" indent="-171450">
              <a:buFont typeface="Arial" panose="020B0604020202020204" pitchFamily="34" charset="0"/>
              <a:buChar char="•"/>
            </a:pPr>
            <a:r>
              <a:rPr lang="de-DE" sz="900" dirty="0"/>
              <a:t>Bei deiner Ankunft hast du dich mal wieder deinen Gruselromanen gewidmet die dir die Kirche eigentlich verbietet und dann hat dich dieser dumme Junge von Koch auch noch dabei gefilmt für seinen VLOG. Du hast ihm gehörig die Leviten gelesen von wegen DSGVO.</a:t>
            </a:r>
          </a:p>
          <a:p>
            <a:pPr marL="171450" indent="-171450">
              <a:buFont typeface="Arial" panose="020B0604020202020204" pitchFamily="34" charset="0"/>
              <a:buChar char="•"/>
            </a:pPr>
            <a:r>
              <a:rPr lang="de-DE" sz="900" dirty="0"/>
              <a:t>Unterhalte dich mit Jazz über Musik in alten Kirchen – frag, ob sie je „seltsame Gesänge“ aufgenommen hat</a:t>
            </a:r>
          </a:p>
          <a:p>
            <a:pPr marL="171450" indent="-171450">
              <a:buFont typeface="Arial" panose="020B0604020202020204" pitchFamily="34" charset="0"/>
              <a:buChar char="•"/>
            </a:pPr>
            <a:r>
              <a:rPr lang="de-DE" sz="900" dirty="0"/>
              <a:t>Sprich mit Viktoria, dass du gehört hast von deinem Pater-Kollegen aus der Gemeinde, dass jemand im Beichtstuhl gestanden hat, dass jemand in der Gemeinde Gelder veruntreut</a:t>
            </a:r>
          </a:p>
          <a:p>
            <a:endParaRPr lang="de-DE" sz="900" dirty="0"/>
          </a:p>
          <a:p>
            <a:r>
              <a:rPr lang="de-DE" sz="900" dirty="0"/>
              <a:t>10. </a:t>
            </a:r>
            <a:r>
              <a:rPr lang="de-DE" sz="900" dirty="0">
                <a:highlight>
                  <a:srgbClr val="00FF00"/>
                </a:highlight>
              </a:rPr>
              <a:t>Jazz Monroe – Musikerin</a:t>
            </a:r>
          </a:p>
          <a:p>
            <a:pPr marL="171450" indent="-171450">
              <a:buFont typeface="Arial" panose="020B0604020202020204" pitchFamily="34" charset="0"/>
              <a:buChar char="•"/>
            </a:pPr>
            <a:r>
              <a:rPr lang="de-DE" sz="900" dirty="0"/>
              <a:t>Kontroverse: Influencer-Fassade / Geldprobleme</a:t>
            </a:r>
          </a:p>
          <a:p>
            <a:pPr marL="171450" indent="-171450">
              <a:buFont typeface="Arial" panose="020B0604020202020204" pitchFamily="34" charset="0"/>
              <a:buChar char="•"/>
            </a:pPr>
            <a:r>
              <a:rPr lang="de-DE" sz="900" dirty="0"/>
              <a:t>Nachdem du siehst, dass Alexa nicht mehr mit dem Hotelier spricht nimmst du diesen beiseite um mit ihm nochmal über deinen Verdienst für das Promo Video des Hotels zu sprechen - das ist nämlich 0 aber das hast du heute erst nach der Ankunft erfahren und du kommst dir etwas verarscht vor.</a:t>
            </a:r>
          </a:p>
          <a:p>
            <a:pPr marL="171450" indent="-171450">
              <a:buFont typeface="Arial" panose="020B0604020202020204" pitchFamily="34" charset="0"/>
              <a:buChar char="•"/>
            </a:pPr>
            <a:r>
              <a:rPr lang="de-DE" sz="900" dirty="0"/>
              <a:t>Bitte Alexa oder Maria um ein kurzes Video – tu so, als wäre alles super, aber sei übertrieben aufgeregt.</a:t>
            </a:r>
          </a:p>
          <a:p>
            <a:pPr marL="171450" indent="-171450">
              <a:buFont typeface="Arial" panose="020B0604020202020204" pitchFamily="34" charset="0"/>
              <a:buChar char="•"/>
            </a:pPr>
            <a:r>
              <a:rPr lang="de-DE" sz="900" dirty="0"/>
              <a:t>Erzähle jedem der es hören will, dass du bald den Durchbruch erreichst und endlich das große Geld machen wirst.</a:t>
            </a:r>
          </a:p>
        </p:txBody>
      </p:sp>
    </p:spTree>
    <p:extLst>
      <p:ext uri="{BB962C8B-B14F-4D97-AF65-F5344CB8AC3E}">
        <p14:creationId xmlns:p14="http://schemas.microsoft.com/office/powerpoint/2010/main" val="22513459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D78712-C212-4D1A-B17D-CF0A90C2A874}"/>
              </a:ext>
            </a:extLst>
          </p:cNvPr>
          <p:cNvSpPr>
            <a:spLocks noGrp="1"/>
          </p:cNvSpPr>
          <p:nvPr>
            <p:ph type="title"/>
          </p:nvPr>
        </p:nvSpPr>
        <p:spPr/>
        <p:txBody>
          <a:bodyPr>
            <a:normAutofit/>
          </a:bodyPr>
          <a:lstStyle/>
          <a:p>
            <a:r>
              <a:rPr lang="de-DE" sz="4000" b="1" dirty="0"/>
              <a:t>1. Dr. Sarah Chen – Ehemalige Notärztin heute HNO Ärztin</a:t>
            </a:r>
            <a:endParaRPr lang="en-US" sz="4000" dirty="0"/>
          </a:p>
        </p:txBody>
      </p:sp>
      <p:sp>
        <p:nvSpPr>
          <p:cNvPr id="3" name="Inhaltsplatzhalter 2">
            <a:extLst>
              <a:ext uri="{FF2B5EF4-FFF2-40B4-BE49-F238E27FC236}">
                <a16:creationId xmlns:a16="http://schemas.microsoft.com/office/drawing/2014/main" id="{0B54B9DD-83A5-48D7-A669-BFB1A6598AF8}"/>
              </a:ext>
            </a:extLst>
          </p:cNvPr>
          <p:cNvSpPr>
            <a:spLocks noGrp="1"/>
          </p:cNvSpPr>
          <p:nvPr>
            <p:ph idx="1"/>
          </p:nvPr>
        </p:nvSpPr>
        <p:spPr/>
        <p:txBody>
          <a:bodyPr>
            <a:normAutofit/>
          </a:bodyPr>
          <a:lstStyle/>
          <a:p>
            <a:r>
              <a:rPr lang="de-DE" sz="1600" b="1" dirty="0"/>
              <a:t>Kontroverse:</a:t>
            </a:r>
            <a:r>
              <a:rPr lang="de-DE" sz="1600" dirty="0"/>
              <a:t> Heimliche Vergangenheit / Verpatzte Rettung von Jonas Rebers (Koch) Mutter</a:t>
            </a:r>
          </a:p>
          <a:p>
            <a:pPr marL="0" indent="0">
              <a:buNone/>
            </a:pPr>
            <a:br>
              <a:rPr lang="de-DE" sz="1600" dirty="0"/>
            </a:br>
            <a:r>
              <a:rPr lang="de-DE" sz="1600" b="1" dirty="0"/>
              <a:t>Deine kleinen Aufgaben:</a:t>
            </a:r>
            <a:endParaRPr lang="de-DE" sz="1600" dirty="0"/>
          </a:p>
          <a:p>
            <a:pPr>
              <a:buFont typeface="Arial" panose="020B0604020202020204" pitchFamily="34" charset="0"/>
              <a:buChar char="•"/>
            </a:pPr>
            <a:r>
              <a:rPr lang="de-DE" sz="1600" dirty="0"/>
              <a:t>Sprich mit Luna darüber, ob es ein Leben nach dem Tod gibt und ob die Seelen derer, die man nicht retten konnte, uns beobachten.</a:t>
            </a:r>
          </a:p>
          <a:p>
            <a:pPr>
              <a:buFont typeface="Arial" panose="020B0604020202020204" pitchFamily="34" charset="0"/>
              <a:buChar char="•"/>
            </a:pPr>
            <a:r>
              <a:rPr lang="de-DE" sz="1600" dirty="0"/>
              <a:t>Du beobachtest, dass Elise Vincent immer komisch anschaut Frag Vincent, ob er sie kennt und was er beruflich macht.</a:t>
            </a:r>
          </a:p>
          <a:p>
            <a:pPr marL="0" indent="0">
              <a:buNone/>
            </a:pPr>
            <a:r>
              <a:rPr lang="de-DE" sz="1600" b="1" dirty="0"/>
              <a:t>Was du zusätzlich bemerkst:</a:t>
            </a:r>
            <a:endParaRPr lang="de-DE" sz="1600" dirty="0"/>
          </a:p>
          <a:p>
            <a:pPr>
              <a:buFont typeface="Arial" panose="020B0604020202020204" pitchFamily="34" charset="0"/>
              <a:buChar char="•"/>
            </a:pPr>
            <a:r>
              <a:rPr lang="de-DE" sz="1600" b="1" dirty="0"/>
              <a:t>Du bemerkst bei Vincent Dubois</a:t>
            </a:r>
            <a:r>
              <a:rPr lang="de-DE" sz="1600" dirty="0"/>
              <a:t>, dass er extrem ausweichend wird, sobald persönliche Themen auftauchen – du hast das Gefühl, er hat etwas zu verbergen – besonders mit Blick auf Elise.</a:t>
            </a:r>
          </a:p>
          <a:p>
            <a:pPr>
              <a:buFont typeface="Arial" panose="020B0604020202020204" pitchFamily="34" charset="0"/>
              <a:buChar char="•"/>
            </a:pPr>
            <a:r>
              <a:rPr lang="de-DE" sz="1600" b="1" dirty="0"/>
              <a:t>Du bemerkst bei Maria Gonzalez</a:t>
            </a:r>
            <a:r>
              <a:rPr lang="de-DE" sz="1600" dirty="0"/>
              <a:t>, dass sie ungewöhnlich gut informiert über den alten Hotelvorfall wirkt – vielleicht steckt mehr dahinter, als sie sagt.</a:t>
            </a:r>
          </a:p>
          <a:p>
            <a:pPr>
              <a:buFont typeface="Arial" panose="020B0604020202020204" pitchFamily="34" charset="0"/>
              <a:buChar char="•"/>
            </a:pPr>
            <a:r>
              <a:rPr lang="de-DE" sz="1600" b="1" dirty="0"/>
              <a:t>Du bemerkst bei Elise/Dimitri</a:t>
            </a:r>
            <a:r>
              <a:rPr lang="de-DE" sz="1600" dirty="0"/>
              <a:t>, dass ihre Stimmung schwankt, sobald sie gemeinsam im Raum sind – die Beziehung wirkt instabil und reizbar.</a:t>
            </a:r>
          </a:p>
          <a:p>
            <a:endParaRPr lang="en-US" sz="1600" dirty="0"/>
          </a:p>
        </p:txBody>
      </p:sp>
    </p:spTree>
    <p:extLst>
      <p:ext uri="{BB962C8B-B14F-4D97-AF65-F5344CB8AC3E}">
        <p14:creationId xmlns:p14="http://schemas.microsoft.com/office/powerpoint/2010/main" val="10593898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feld 6">
            <a:extLst>
              <a:ext uri="{FF2B5EF4-FFF2-40B4-BE49-F238E27FC236}">
                <a16:creationId xmlns:a16="http://schemas.microsoft.com/office/drawing/2014/main" id="{2CE43F2D-DDC8-490D-8453-55F97BA55F47}"/>
              </a:ext>
            </a:extLst>
          </p:cNvPr>
          <p:cNvSpPr txBox="1"/>
          <p:nvPr/>
        </p:nvSpPr>
        <p:spPr>
          <a:xfrm>
            <a:off x="601134" y="1659679"/>
            <a:ext cx="8297333" cy="5016758"/>
          </a:xfrm>
          <a:prstGeom prst="rect">
            <a:avLst/>
          </a:prstGeom>
          <a:noFill/>
        </p:spPr>
        <p:txBody>
          <a:bodyPr wrap="square">
            <a:spAutoFit/>
          </a:bodyPr>
          <a:lstStyle/>
          <a:p>
            <a:r>
              <a:rPr lang="de-DE" sz="1600" b="1" dirty="0"/>
              <a:t>2. Kontroverse:</a:t>
            </a:r>
            <a:r>
              <a:rPr lang="de-DE" sz="1600" dirty="0"/>
              <a:t> Familiengeheimnis / Vater und Tante erlebte eine Tragödie 1991 als sie an Salmonellenvergiftung im Hotel Aurora verstarben</a:t>
            </a:r>
            <a:br>
              <a:rPr lang="de-DE" sz="1600" dirty="0"/>
            </a:br>
            <a:endParaRPr lang="de-DE" sz="1600" dirty="0"/>
          </a:p>
          <a:p>
            <a:r>
              <a:rPr lang="de-DE" sz="1600" b="1" dirty="0"/>
              <a:t>Deine kleinen Aufgaben:</a:t>
            </a:r>
            <a:endParaRPr lang="de-DE" sz="1600" dirty="0"/>
          </a:p>
          <a:p>
            <a:pPr marL="285750" indent="-285750">
              <a:buFont typeface="Arial" panose="020B0604020202020204" pitchFamily="34" charset="0"/>
              <a:buChar char="•"/>
            </a:pPr>
            <a:r>
              <a:rPr lang="de-DE" sz="1600" dirty="0"/>
              <a:t>Bitte Antonio, dein Mondstein-Amulett zu halten und beobachte seine Reaktion. </a:t>
            </a:r>
          </a:p>
          <a:p>
            <a:pPr marL="285750" indent="-285750">
              <a:buFont typeface="Arial" panose="020B0604020202020204" pitchFamily="34" charset="0"/>
              <a:buChar char="•"/>
            </a:pPr>
            <a:r>
              <a:rPr lang="de-DE" sz="1600" dirty="0"/>
              <a:t>Du hast beim Ankommen einen Streit zw. Pater und Koch bemerkt. Frag ihn, warum er den Koch vorhin wegen DSGVO so zusammengestaucht hat. Erwähne auch, dass du die Essenskarte gesehen hast – kein Bio und fast nur Fleischgerichte, mit solchen Köchen geht die Welt den Bach runter…</a:t>
            </a:r>
          </a:p>
          <a:p>
            <a:pPr marL="285750" indent="-285750">
              <a:buFont typeface="Arial" panose="020B0604020202020204" pitchFamily="34" charset="0"/>
              <a:buChar char="•"/>
            </a:pPr>
            <a:r>
              <a:rPr lang="de-DE" sz="1600" dirty="0"/>
              <a:t>Erzähle Sarah, dass du findest das Elise eine extrem schlechte Aura hat und wohl ein böser Mensch sei.</a:t>
            </a:r>
          </a:p>
          <a:p>
            <a:pPr marL="285750" indent="-285750">
              <a:buFont typeface="Arial" panose="020B0604020202020204" pitchFamily="34" charset="0"/>
              <a:buChar char="•"/>
            </a:pPr>
            <a:r>
              <a:rPr lang="de-DE" sz="1600" dirty="0"/>
              <a:t>Schnuppere immer wieder an anderen Leuten. Wenn es auffällt → kommentarlos weggehen.</a:t>
            </a:r>
          </a:p>
          <a:p>
            <a:endParaRPr lang="de-DE" sz="1600" b="1" dirty="0"/>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Pater Antonio</a:t>
            </a:r>
            <a:r>
              <a:rPr lang="de-DE" sz="1600" dirty="0"/>
              <a:t>, dass er sichtbar nervös wird, als er den Mondstein hält – als ob er etwas Okkultes verbergen wollte.</a:t>
            </a:r>
          </a:p>
          <a:p>
            <a:pPr marL="285750" indent="-285750">
              <a:buFont typeface="Arial" panose="020B0604020202020204" pitchFamily="34" charset="0"/>
              <a:buChar char="•"/>
            </a:pPr>
            <a:r>
              <a:rPr lang="de-DE" sz="1600" b="1" dirty="0"/>
              <a:t>Du bemerkst bei Viktoria Lang</a:t>
            </a:r>
            <a:r>
              <a:rPr lang="de-DE" sz="1600" dirty="0"/>
              <a:t>, dass sie beim Thema Essen übertrieben unentspannt reagiert – irgendetwas stresst sie politisch oder moralisch.</a:t>
            </a:r>
          </a:p>
          <a:p>
            <a:pPr marL="285750" indent="-285750">
              <a:buFont typeface="Arial" panose="020B0604020202020204" pitchFamily="34" charset="0"/>
              <a:buChar char="•"/>
            </a:pPr>
            <a:r>
              <a:rPr lang="de-DE" sz="1600" b="1" dirty="0"/>
              <a:t>Du bemerkst bei Jonas (Koch)</a:t>
            </a:r>
            <a:r>
              <a:rPr lang="de-DE" sz="1600" dirty="0"/>
              <a:t>, dass seine Angst vor „Regeln und Vorschriften“ unnatürlich wirkt – er scheint etwas zu vertuschen.</a:t>
            </a:r>
          </a:p>
        </p:txBody>
      </p:sp>
      <p:sp>
        <p:nvSpPr>
          <p:cNvPr id="8" name="Titel 1">
            <a:extLst>
              <a:ext uri="{FF2B5EF4-FFF2-40B4-BE49-F238E27FC236}">
                <a16:creationId xmlns:a16="http://schemas.microsoft.com/office/drawing/2014/main" id="{AF1E91D3-9576-479B-A308-255F8BA914F0}"/>
              </a:ext>
            </a:extLst>
          </p:cNvPr>
          <p:cNvSpPr>
            <a:spLocks noGrp="1"/>
          </p:cNvSpPr>
          <p:nvPr>
            <p:ph type="title"/>
          </p:nvPr>
        </p:nvSpPr>
        <p:spPr>
          <a:xfrm>
            <a:off x="838200" y="365125"/>
            <a:ext cx="10515600" cy="1325563"/>
          </a:xfrm>
        </p:spPr>
        <p:txBody>
          <a:bodyPr>
            <a:normAutofit/>
          </a:bodyPr>
          <a:lstStyle/>
          <a:p>
            <a:r>
              <a:rPr lang="de-DE" sz="4000" b="1" dirty="0"/>
              <a:t>2. Luna Silbermann – Esoterikerin</a:t>
            </a:r>
            <a:endParaRPr lang="en-US" sz="4000" dirty="0"/>
          </a:p>
        </p:txBody>
      </p:sp>
    </p:spTree>
    <p:extLst>
      <p:ext uri="{BB962C8B-B14F-4D97-AF65-F5344CB8AC3E}">
        <p14:creationId xmlns:p14="http://schemas.microsoft.com/office/powerpoint/2010/main" val="28840437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DD9D16A0-39C7-42DB-9DD0-59B55E47B8E1}"/>
              </a:ext>
            </a:extLst>
          </p:cNvPr>
          <p:cNvSpPr txBox="1"/>
          <p:nvPr/>
        </p:nvSpPr>
        <p:spPr>
          <a:xfrm>
            <a:off x="821267" y="1782395"/>
            <a:ext cx="9110133" cy="3046988"/>
          </a:xfrm>
          <a:prstGeom prst="rect">
            <a:avLst/>
          </a:prstGeom>
          <a:noFill/>
        </p:spPr>
        <p:txBody>
          <a:bodyPr wrap="square">
            <a:spAutoFit/>
          </a:bodyPr>
          <a:lstStyle/>
          <a:p>
            <a:r>
              <a:rPr lang="de-DE" sz="1600" b="1" dirty="0"/>
              <a:t>Kontroverse:</a:t>
            </a:r>
            <a:r>
              <a:rPr lang="de-DE" sz="1600" dirty="0"/>
              <a:t> Hohe Spielschulden / Finanzielle Fassade</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Versuche, Viktoria für dein regionales Sportprojekt zu begeistern. Reagiere empfindlich, wenn sie Kosten hinterfragt.</a:t>
            </a:r>
          </a:p>
          <a:p>
            <a:pPr marL="285750" indent="-285750">
              <a:buFont typeface="Arial" panose="020B0604020202020204" pitchFamily="34" charset="0"/>
              <a:buChar char="•"/>
            </a:pPr>
            <a:r>
              <a:rPr lang="de-DE" sz="1600" dirty="0"/>
              <a:t>Mach immer wieder Golf Abschlag- oder Putt-Trockenübungen.</a:t>
            </a:r>
          </a:p>
          <a:p>
            <a:pPr marL="285750" indent="-285750">
              <a:buFont typeface="Arial" panose="020B0604020202020204" pitchFamily="34" charset="0"/>
              <a:buChar char="•"/>
            </a:pPr>
            <a:r>
              <a:rPr lang="de-DE" sz="1600" dirty="0"/>
              <a:t>Als du Alexa fragen willst, ob ihre KI Zahlungsströme optimieren könnte, siehst du ein frustriertes Gespräch mit dem Hotelier. Alexa wirkt bedrückt.</a:t>
            </a:r>
          </a:p>
          <a:p>
            <a:r>
              <a:rPr lang="de-DE" sz="1600" b="1" dirty="0"/>
              <a:t>Was du zusätzlich bemerkst: </a:t>
            </a:r>
            <a:endParaRPr lang="de-DE" sz="1600" dirty="0"/>
          </a:p>
          <a:p>
            <a:pPr marL="285750" indent="-285750">
              <a:buFont typeface="Arial" panose="020B0604020202020204" pitchFamily="34" charset="0"/>
              <a:buChar char="•"/>
            </a:pPr>
            <a:r>
              <a:rPr lang="de-DE" sz="1600" b="1" dirty="0"/>
              <a:t>Du bemerkst bei Viktoria</a:t>
            </a:r>
            <a:r>
              <a:rPr lang="de-DE" sz="1600" dirty="0"/>
              <a:t>, dass sie ständig nervöse Seitenblicke zu Dimitri und dem Hotelier wirft – bei ihr scheint politisch etwas schiefzulaufen. Wissen die beiden mehr über sie?</a:t>
            </a:r>
          </a:p>
          <a:p>
            <a:pPr marL="285750" indent="-285750">
              <a:buFont typeface="Arial" panose="020B0604020202020204" pitchFamily="34" charset="0"/>
              <a:buChar char="•"/>
            </a:pPr>
            <a:r>
              <a:rPr lang="de-DE" sz="1600" b="1" dirty="0"/>
              <a:t>Du bemerkst bei Alexa</a:t>
            </a:r>
            <a:r>
              <a:rPr lang="de-DE" sz="1600" dirty="0"/>
              <a:t>, dass sie extrem enttäuscht vom Hotelier wirkt – du riechst finanzielle Probleme.</a:t>
            </a:r>
          </a:p>
          <a:p>
            <a:pPr marL="285750" indent="-285750">
              <a:buFont typeface="Arial" panose="020B0604020202020204" pitchFamily="34" charset="0"/>
              <a:buChar char="•"/>
            </a:pPr>
            <a:r>
              <a:rPr lang="de-DE" sz="1600" b="1" dirty="0"/>
              <a:t>Du bemerkst bei Dimitri</a:t>
            </a:r>
            <a:r>
              <a:rPr lang="de-DE" sz="1600" dirty="0"/>
              <a:t>, dass er dich beobachtet. Er ist ein Gläubiger – was dich extrem verunsichert.</a:t>
            </a:r>
          </a:p>
        </p:txBody>
      </p:sp>
      <p:sp>
        <p:nvSpPr>
          <p:cNvPr id="6" name="Titel 1">
            <a:extLst>
              <a:ext uri="{FF2B5EF4-FFF2-40B4-BE49-F238E27FC236}">
                <a16:creationId xmlns:a16="http://schemas.microsoft.com/office/drawing/2014/main" id="{ABB0014D-C5B2-4578-8F85-E671DEA222DC}"/>
              </a:ext>
            </a:extLst>
          </p:cNvPr>
          <p:cNvSpPr>
            <a:spLocks noGrp="1"/>
          </p:cNvSpPr>
          <p:nvPr>
            <p:ph type="title"/>
          </p:nvPr>
        </p:nvSpPr>
        <p:spPr>
          <a:xfrm>
            <a:off x="838200" y="365125"/>
            <a:ext cx="10515600" cy="1325563"/>
          </a:xfrm>
        </p:spPr>
        <p:txBody>
          <a:bodyPr>
            <a:normAutofit/>
          </a:bodyPr>
          <a:lstStyle/>
          <a:p>
            <a:r>
              <a:rPr lang="de-DE" sz="4000" b="1" dirty="0"/>
              <a:t>3. Maximilian „Max“ Gold – Golfprofi</a:t>
            </a:r>
          </a:p>
        </p:txBody>
      </p:sp>
    </p:spTree>
    <p:extLst>
      <p:ext uri="{BB962C8B-B14F-4D97-AF65-F5344CB8AC3E}">
        <p14:creationId xmlns:p14="http://schemas.microsoft.com/office/powerpoint/2010/main" val="9244423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4. Tom Greenwood – Förster</a:t>
            </a:r>
            <a:endParaRPr lang="en-US" b="1" dirty="0"/>
          </a:p>
        </p:txBody>
      </p:sp>
      <p:sp>
        <p:nvSpPr>
          <p:cNvPr id="5" name="Textfeld 4">
            <a:extLst>
              <a:ext uri="{FF2B5EF4-FFF2-40B4-BE49-F238E27FC236}">
                <a16:creationId xmlns:a16="http://schemas.microsoft.com/office/drawing/2014/main" id="{0D481E2F-9A94-4721-B131-7C7E1B8A51A9}"/>
              </a:ext>
            </a:extLst>
          </p:cNvPr>
          <p:cNvSpPr txBox="1"/>
          <p:nvPr/>
        </p:nvSpPr>
        <p:spPr>
          <a:xfrm>
            <a:off x="982133" y="1443841"/>
            <a:ext cx="8161867" cy="3293209"/>
          </a:xfrm>
          <a:prstGeom prst="rect">
            <a:avLst/>
          </a:prstGeom>
          <a:noFill/>
        </p:spPr>
        <p:txBody>
          <a:bodyPr wrap="square">
            <a:spAutoFit/>
          </a:bodyPr>
          <a:lstStyle/>
          <a:p>
            <a:r>
              <a:rPr lang="de-DE" sz="1600" b="1" dirty="0"/>
              <a:t>Kontroverse:</a:t>
            </a:r>
            <a:r>
              <a:rPr lang="de-DE" sz="1600" dirty="0"/>
              <a:t> Rätselhafte Tierkadaver im Revier</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Sprich mit Sarah über seltsame Dinge, die du im Wald gefunden hast „komischen Spuren“. Falls sie öfter nachhakt was du meinst → kommentarlos gehen, du willst nicht dass sie denkt du seist verrückt.</a:t>
            </a:r>
          </a:p>
          <a:p>
            <a:pPr marL="285750" indent="-285750">
              <a:buFont typeface="Arial" panose="020B0604020202020204" pitchFamily="34" charset="0"/>
              <a:buChar char="•"/>
            </a:pPr>
            <a:r>
              <a:rPr lang="de-DE" sz="1600" dirty="0"/>
              <a:t>Diskutiere mit Max über Umweltschutz. Erwähne die Fritteuse voller Tierhaare im Wald.</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Sarah</a:t>
            </a:r>
            <a:r>
              <a:rPr lang="de-DE" sz="1600" dirty="0"/>
              <a:t>, dass sie sichtlich nervös wird, wenn es um „Tierattacken“ geht – sie verschweigt etwas.</a:t>
            </a:r>
          </a:p>
          <a:p>
            <a:pPr marL="285750" indent="-285750">
              <a:buFont typeface="Arial" panose="020B0604020202020204" pitchFamily="34" charset="0"/>
              <a:buChar char="•"/>
            </a:pPr>
            <a:r>
              <a:rPr lang="de-DE" sz="1600" b="1" dirty="0"/>
              <a:t>Du bemerkst bei Max</a:t>
            </a:r>
            <a:r>
              <a:rPr lang="de-DE" sz="1600" dirty="0"/>
              <a:t>, dass seine Euphorie nicht echt wirkt – du erkennst sofort finanzielle Not.</a:t>
            </a:r>
          </a:p>
          <a:p>
            <a:pPr marL="285750" indent="-285750">
              <a:buFont typeface="Arial" panose="020B0604020202020204" pitchFamily="34" charset="0"/>
              <a:buChar char="•"/>
            </a:pPr>
            <a:r>
              <a:rPr lang="de-DE" sz="1600" b="1" dirty="0"/>
              <a:t>Du bemerkst bei Helga</a:t>
            </a:r>
            <a:r>
              <a:rPr lang="de-DE" sz="1600" dirty="0"/>
              <a:t>, dass sie ungewöhnlich ruhig über die Dezembernächte spricht. Das ist </a:t>
            </a:r>
            <a:r>
              <a:rPr lang="de-DE" sz="1600" i="1" dirty="0"/>
              <a:t>nicht</a:t>
            </a:r>
            <a:r>
              <a:rPr lang="de-DE" sz="1600" dirty="0"/>
              <a:t> normal.</a:t>
            </a:r>
          </a:p>
        </p:txBody>
      </p:sp>
    </p:spTree>
    <p:extLst>
      <p:ext uri="{BB962C8B-B14F-4D97-AF65-F5344CB8AC3E}">
        <p14:creationId xmlns:p14="http://schemas.microsoft.com/office/powerpoint/2010/main" val="7884387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5. Maria Gonzalez – Dolmetscherin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2800767"/>
          </a:xfrm>
          <a:prstGeom prst="rect">
            <a:avLst/>
          </a:prstGeom>
          <a:noFill/>
        </p:spPr>
        <p:txBody>
          <a:bodyPr wrap="square">
            <a:spAutoFit/>
          </a:bodyPr>
          <a:lstStyle/>
          <a:p>
            <a:r>
              <a:rPr lang="de-DE" sz="1600" b="1" dirty="0"/>
              <a:t>Kontroverse:</a:t>
            </a:r>
            <a:r>
              <a:rPr lang="de-DE" sz="1600" dirty="0"/>
              <a:t> Arbeitet gelegentlich für Geheimdienste</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Sprich mit Sarah über deinen gefundenen Onlineartikel zur Hoteltragödie vor drei Jahren – du glaubst, dass es Jonas Mutter war die damals verstorben ist. (Muss zu Alexa verschoben werden!)</a:t>
            </a:r>
          </a:p>
          <a:p>
            <a:pPr marL="285750" indent="-285750">
              <a:buFont typeface="Arial" panose="020B0604020202020204" pitchFamily="34" charset="0"/>
              <a:buChar char="•"/>
            </a:pPr>
            <a:r>
              <a:rPr lang="de-DE" sz="1600" dirty="0"/>
              <a:t>Bitte Vincent, dir etwas Russisches vorzulesen.</a:t>
            </a:r>
          </a:p>
          <a:p>
            <a:endParaRPr lang="de-DE" sz="1600" dirty="0"/>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Vincent</a:t>
            </a:r>
            <a:r>
              <a:rPr lang="de-DE" sz="1600" dirty="0"/>
              <a:t>, dass er auffällig angespannt reagiert, sobald es um fremde Sprachen oder Dokumente geht – als wolle er etwas verbergen.</a:t>
            </a:r>
          </a:p>
          <a:p>
            <a:pPr marL="285750" indent="-285750">
              <a:buFont typeface="Arial" panose="020B0604020202020204" pitchFamily="34" charset="0"/>
              <a:buChar char="•"/>
            </a:pPr>
            <a:r>
              <a:rPr lang="de-DE" sz="1600" b="1" dirty="0"/>
              <a:t>Du bemerkst bei Sarah</a:t>
            </a:r>
            <a:r>
              <a:rPr lang="de-DE" sz="1600" dirty="0"/>
              <a:t>, dass der Vorfall vor drei Jahren sie stärker belastet, als sie zugibt.</a:t>
            </a:r>
          </a:p>
        </p:txBody>
      </p:sp>
    </p:spTree>
    <p:extLst>
      <p:ext uri="{BB962C8B-B14F-4D97-AF65-F5344CB8AC3E}">
        <p14:creationId xmlns:p14="http://schemas.microsoft.com/office/powerpoint/2010/main" val="16408245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6. Vincent Dubois – Lebemann</a:t>
            </a:r>
            <a:endParaRPr lang="en-US" b="1"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293209"/>
          </a:xfrm>
          <a:prstGeom prst="rect">
            <a:avLst/>
          </a:prstGeom>
          <a:noFill/>
        </p:spPr>
        <p:txBody>
          <a:bodyPr wrap="square">
            <a:spAutoFit/>
          </a:bodyPr>
          <a:lstStyle/>
          <a:p>
            <a:r>
              <a:rPr lang="de-DE" sz="1600" b="1" dirty="0"/>
              <a:t>Kontroverse:</a:t>
            </a:r>
            <a:r>
              <a:rPr lang="de-DE" sz="1600" dirty="0"/>
              <a:t> Erpresst Klienten</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Unterhalte dich mit Pater Antonio über Vergebung und Sünden. Versuch, dich zu öffnen – brich aber immer ab.</a:t>
            </a:r>
          </a:p>
          <a:p>
            <a:pPr marL="285750" indent="-285750">
              <a:buFont typeface="Arial" panose="020B0604020202020204" pitchFamily="34" charset="0"/>
              <a:buChar char="•"/>
            </a:pPr>
            <a:r>
              <a:rPr lang="de-DE" sz="1600" dirty="0"/>
              <a:t>Lass beiläufig Gerüchte über seine Beurlaubung fallen um zu sehen wie er reagiert.</a:t>
            </a:r>
          </a:p>
          <a:p>
            <a:pPr marL="285750" indent="-285750">
              <a:buFont typeface="Arial" panose="020B0604020202020204" pitchFamily="34" charset="0"/>
              <a:buChar char="•"/>
            </a:pPr>
            <a:r>
              <a:rPr lang="de-DE" sz="1600" dirty="0"/>
              <a:t>Versuche, Maria und Sarah öfter zu belauschen.</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Maria</a:t>
            </a:r>
            <a:r>
              <a:rPr lang="de-DE" sz="1600" dirty="0"/>
              <a:t>, dass sie ungewöhnlich vorsichtig formuliert – wie jemand mit Zugang zu vertraulichen Informationen.</a:t>
            </a:r>
          </a:p>
          <a:p>
            <a:pPr marL="285750" indent="-285750">
              <a:buFont typeface="Arial" panose="020B0604020202020204" pitchFamily="34" charset="0"/>
              <a:buChar char="•"/>
            </a:pPr>
            <a:r>
              <a:rPr lang="de-DE" sz="1600" b="1" dirty="0"/>
              <a:t>Du bemerkst bei Sarah</a:t>
            </a:r>
            <a:r>
              <a:rPr lang="de-DE" sz="1600" dirty="0"/>
              <a:t>, dass sie bei dem Thema „Vergangenheit“ sehr empfindlich reagiert – sie hat eine Schwachstelle.</a:t>
            </a:r>
          </a:p>
          <a:p>
            <a:pPr marL="285750" indent="-285750">
              <a:buFont typeface="Arial" panose="020B0604020202020204" pitchFamily="34" charset="0"/>
              <a:buChar char="•"/>
            </a:pPr>
            <a:r>
              <a:rPr lang="de-DE" sz="1600" b="1" dirty="0"/>
              <a:t>Du bemerkst bei Viktoria</a:t>
            </a:r>
            <a:r>
              <a:rPr lang="de-DE" sz="1600" dirty="0"/>
              <a:t>, dass sie ungewöhnlich viel Wert auf „Öffentlichkeitskontrolle“ legt – du denkst sofort: politische Leichen im Keller.</a:t>
            </a:r>
          </a:p>
        </p:txBody>
      </p:sp>
    </p:spTree>
    <p:extLst>
      <p:ext uri="{BB962C8B-B14F-4D97-AF65-F5344CB8AC3E}">
        <p14:creationId xmlns:p14="http://schemas.microsoft.com/office/powerpoint/2010/main" val="13057150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7. Alexa Steinberg – Tech-Entrepreneurin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539430"/>
          </a:xfrm>
          <a:prstGeom prst="rect">
            <a:avLst/>
          </a:prstGeom>
          <a:noFill/>
        </p:spPr>
        <p:txBody>
          <a:bodyPr wrap="square">
            <a:spAutoFit/>
          </a:bodyPr>
          <a:lstStyle/>
          <a:p>
            <a:r>
              <a:rPr lang="de-DE" sz="1600" b="1" dirty="0"/>
              <a:t>Kontroverse:</a:t>
            </a:r>
            <a:r>
              <a:rPr lang="de-DE" sz="1600" dirty="0"/>
              <a:t> Startup fast insolvent</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Der Hotelier lehnt deine Automatisierungsidee ab. Danach nervt dich Max mit einer nutzlosen Idee.</a:t>
            </a:r>
          </a:p>
          <a:p>
            <a:pPr marL="285750" indent="-285750">
              <a:buFont typeface="Arial" panose="020B0604020202020204" pitchFamily="34" charset="0"/>
              <a:buChar char="•"/>
            </a:pPr>
            <a:r>
              <a:rPr lang="de-DE" sz="1600" dirty="0"/>
              <a:t>Du merkst, dass Jazz ebenfalls frustriert den Hotelier verlässt. Frage sie nach ihrem Anliegen.</a:t>
            </a:r>
          </a:p>
          <a:p>
            <a:pPr marL="285750" indent="-285750">
              <a:buFont typeface="Arial" panose="020B0604020202020204" pitchFamily="34" charset="0"/>
              <a:buChar char="•"/>
            </a:pPr>
            <a:r>
              <a:rPr lang="de-DE" sz="1600" dirty="0"/>
              <a:t>Beobachte Luna und Viktoria beim Essen und </a:t>
            </a:r>
            <a:r>
              <a:rPr lang="de-DE" sz="1600" dirty="0" err="1"/>
              <a:t>wechsel</a:t>
            </a:r>
            <a:r>
              <a:rPr lang="de-DE" sz="1600" dirty="0"/>
              <a:t> bei Gesprächen ständig deine Meinung um Konflikten aus dem Weg zu gehen.</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Jazz</a:t>
            </a:r>
            <a:r>
              <a:rPr lang="de-DE" sz="1600" dirty="0"/>
              <a:t>, dass ihre „Alles ist super“-Fassade bröckelt – sie hat finanzielle Schwierigkeiten.</a:t>
            </a:r>
          </a:p>
          <a:p>
            <a:pPr marL="285750" indent="-285750">
              <a:buFont typeface="Arial" panose="020B0604020202020204" pitchFamily="34" charset="0"/>
              <a:buChar char="•"/>
            </a:pPr>
            <a:r>
              <a:rPr lang="de-DE" sz="1600" b="1" dirty="0"/>
              <a:t>Du bemerkst bei Viktoria</a:t>
            </a:r>
            <a:r>
              <a:rPr lang="de-DE" sz="1600" dirty="0"/>
              <a:t>, dass sie bei jeder Diskussion ein Stück zu heftig reagiert – du ahnst politischen Druck.</a:t>
            </a:r>
          </a:p>
          <a:p>
            <a:pPr marL="285750" indent="-285750">
              <a:buFont typeface="Arial" panose="020B0604020202020204" pitchFamily="34" charset="0"/>
              <a:buChar char="•"/>
            </a:pPr>
            <a:r>
              <a:rPr lang="de-DE" sz="1600" b="1" dirty="0"/>
              <a:t>Du bemerkst bei Dimitri</a:t>
            </a:r>
            <a:r>
              <a:rPr lang="de-DE" sz="1600" dirty="0"/>
              <a:t>, dass der Hotelier bei ihrem Gespräch ständig den Kopf schüttelt – dieser Mann ist eindeutig nicht sauber.</a:t>
            </a:r>
          </a:p>
        </p:txBody>
      </p:sp>
    </p:spTree>
    <p:extLst>
      <p:ext uri="{BB962C8B-B14F-4D97-AF65-F5344CB8AC3E}">
        <p14:creationId xmlns:p14="http://schemas.microsoft.com/office/powerpoint/2010/main" val="601305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8. Viktoria Lang – Bürgermeisterin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4031873"/>
          </a:xfrm>
          <a:prstGeom prst="rect">
            <a:avLst/>
          </a:prstGeom>
          <a:noFill/>
        </p:spPr>
        <p:txBody>
          <a:bodyPr wrap="square">
            <a:spAutoFit/>
          </a:bodyPr>
          <a:lstStyle/>
          <a:p>
            <a:r>
              <a:rPr lang="de-DE" sz="1600" b="1" dirty="0"/>
              <a:t>Kontroverse:</a:t>
            </a:r>
            <a:r>
              <a:rPr lang="de-DE" sz="1600" dirty="0"/>
              <a:t> Veruntreuung von Gemeindegeldern – Das Gerücht ist auch bei Dimitri angekommen, der häufig selbst in solchen Dingen involviert ist, vielleicht war er sogar Teil des damaligen Deals.</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Rede mit Luna über den Truthahn und zeige Mitleid für Vegetarier denen doch so gutes Essen entgeht.</a:t>
            </a:r>
          </a:p>
          <a:p>
            <a:pPr marL="285750" indent="-285750">
              <a:buFont typeface="Arial" panose="020B0604020202020204" pitchFamily="34" charset="0"/>
              <a:buChar char="•"/>
            </a:pPr>
            <a:r>
              <a:rPr lang="de-DE" sz="1600" dirty="0"/>
              <a:t>Rede mit Vincent über Öffentlichkeitsarbeit und wie er mit „unangenehmen Fragen“ umgeht.</a:t>
            </a:r>
          </a:p>
          <a:p>
            <a:pPr marL="285750" indent="-285750">
              <a:buFont typeface="Arial" panose="020B0604020202020204" pitchFamily="34" charset="0"/>
              <a:buChar char="•"/>
            </a:pPr>
            <a:r>
              <a:rPr lang="de-DE" sz="1600" dirty="0"/>
              <a:t>Rede in jedem Gespräch Dimitri Volkov schlecht, weil er Einfluss auf die lokale Politik nehmen will.</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Vincent</a:t>
            </a:r>
            <a:r>
              <a:rPr lang="de-DE" sz="1600" dirty="0"/>
              <a:t>, dass er professionell darin ist, Dinge zu vertuschen – das wirkt kriminell erprobt.</a:t>
            </a:r>
          </a:p>
          <a:p>
            <a:pPr marL="285750" indent="-285750">
              <a:buFont typeface="Arial" panose="020B0604020202020204" pitchFamily="34" charset="0"/>
              <a:buChar char="•"/>
            </a:pPr>
            <a:r>
              <a:rPr lang="de-DE" sz="1600" b="1" dirty="0"/>
              <a:t>Du bemerkst bei Pater Antonio</a:t>
            </a:r>
            <a:r>
              <a:rPr lang="de-DE" sz="1600" dirty="0"/>
              <a:t>, dass seine Beichtstuhl-Anekdote dich stark verunsichert – er weiß vielleicht mehr über dich.</a:t>
            </a:r>
          </a:p>
          <a:p>
            <a:pPr marL="285750" indent="-285750">
              <a:buFont typeface="Arial" panose="020B0604020202020204" pitchFamily="34" charset="0"/>
              <a:buChar char="•"/>
            </a:pPr>
            <a:r>
              <a:rPr lang="de-DE" sz="1600" b="1" dirty="0"/>
              <a:t>Du bemerkst bei Tom</a:t>
            </a:r>
            <a:r>
              <a:rPr lang="de-DE" sz="1600" dirty="0"/>
              <a:t>, dass er unglaublich misstrauisch gegenüber dem Hotelprojekt wirkt – möglicherweise ein radikaler Umweltschützer.</a:t>
            </a:r>
          </a:p>
        </p:txBody>
      </p:sp>
    </p:spTree>
    <p:extLst>
      <p:ext uri="{BB962C8B-B14F-4D97-AF65-F5344CB8AC3E}">
        <p14:creationId xmlns:p14="http://schemas.microsoft.com/office/powerpoint/2010/main" val="4791278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it-IT" dirty="0"/>
              <a:t>9. Pater Antonio Benedetti – </a:t>
            </a:r>
            <a:r>
              <a:rPr lang="it-IT" dirty="0" err="1"/>
              <a:t>Priester</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293209"/>
          </a:xfrm>
          <a:prstGeom prst="rect">
            <a:avLst/>
          </a:prstGeom>
          <a:noFill/>
        </p:spPr>
        <p:txBody>
          <a:bodyPr wrap="square">
            <a:spAutoFit/>
          </a:bodyPr>
          <a:lstStyle/>
          <a:p>
            <a:r>
              <a:rPr lang="de-DE" sz="1600" b="1" dirty="0"/>
              <a:t>Kontroverse:</a:t>
            </a:r>
            <a:r>
              <a:rPr lang="de-DE" sz="1600" dirty="0"/>
              <a:t> Okkulte Texte / Beurlaubt</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Ärger mit Jonas, weil er dich beim Lesen verbotener Inhalte gefilmt hat.</a:t>
            </a:r>
          </a:p>
          <a:p>
            <a:pPr marL="285750" indent="-285750">
              <a:buFont typeface="Arial" panose="020B0604020202020204" pitchFamily="34" charset="0"/>
              <a:buChar char="•"/>
            </a:pPr>
            <a:r>
              <a:rPr lang="de-DE" sz="1600" dirty="0"/>
              <a:t>Unterhalte dich mit Jazz über Kirchenmusik.</a:t>
            </a:r>
          </a:p>
          <a:p>
            <a:pPr marL="285750" indent="-285750">
              <a:buFont typeface="Arial" panose="020B0604020202020204" pitchFamily="34" charset="0"/>
              <a:buChar char="•"/>
            </a:pPr>
            <a:r>
              <a:rPr lang="de-DE" sz="1600" dirty="0"/>
              <a:t>Erzähle Viktoria, dass dir der ansässige Pater erzählt hat, jemand hätte Gelder veruntreut.</a:t>
            </a:r>
          </a:p>
          <a:p>
            <a:pPr marL="285750" indent="-285750">
              <a:buFont typeface="Arial" panose="020B0604020202020204" pitchFamily="34" charset="0"/>
              <a:buChar char="•"/>
            </a:pPr>
            <a:r>
              <a:rPr lang="de-DE" sz="1600" dirty="0"/>
              <a:t>Du erinnerst dich an einen alten Zeitungsartikel aus dem Jahr 1982 bei dem eine Familie an Salmonellen im Hotel Aurora verstorben ist. Da du weißt dass Lunas Familie aus der Gegend stammt fragst du sie dazu.</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Jazz</a:t>
            </a:r>
            <a:r>
              <a:rPr lang="de-DE" sz="1600" dirty="0"/>
              <a:t>, dass ihre überschwängliche Begeisterung Fassade ist – sie bedeckt finanzielle Probleme.</a:t>
            </a:r>
          </a:p>
          <a:p>
            <a:pPr marL="285750" indent="-285750">
              <a:buFont typeface="Arial" panose="020B0604020202020204" pitchFamily="34" charset="0"/>
              <a:buChar char="•"/>
            </a:pPr>
            <a:r>
              <a:rPr lang="de-DE" sz="1600" b="1" dirty="0"/>
              <a:t>Du bemerkst bei Viktoria</a:t>
            </a:r>
            <a:r>
              <a:rPr lang="de-DE" sz="1600" dirty="0"/>
              <a:t>, dass sie beim Thema Veruntreuung panisch wirkt.</a:t>
            </a:r>
          </a:p>
          <a:p>
            <a:pPr marL="285750" indent="-285750">
              <a:buFont typeface="Arial" panose="020B0604020202020204" pitchFamily="34" charset="0"/>
              <a:buChar char="•"/>
            </a:pPr>
            <a:r>
              <a:rPr lang="de-DE" sz="1600" b="1" dirty="0"/>
              <a:t>Du bemerkst bei Jonas</a:t>
            </a:r>
            <a:r>
              <a:rPr lang="de-DE" sz="1600" dirty="0"/>
              <a:t>, dass er beim Filmen extrem nervös wurde – er fürchtet Konsequenzen.</a:t>
            </a:r>
          </a:p>
        </p:txBody>
      </p:sp>
    </p:spTree>
    <p:extLst>
      <p:ext uri="{BB962C8B-B14F-4D97-AF65-F5344CB8AC3E}">
        <p14:creationId xmlns:p14="http://schemas.microsoft.com/office/powerpoint/2010/main" val="3225889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10. Jazz Monroe – Musikerin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4524315"/>
          </a:xfrm>
          <a:prstGeom prst="rect">
            <a:avLst/>
          </a:prstGeom>
          <a:noFill/>
        </p:spPr>
        <p:txBody>
          <a:bodyPr wrap="square">
            <a:spAutoFit/>
          </a:bodyPr>
          <a:lstStyle/>
          <a:p>
            <a:r>
              <a:rPr lang="de-DE" sz="1600" b="1" dirty="0"/>
              <a:t>Kontroverse:</a:t>
            </a:r>
            <a:r>
              <a:rPr lang="de-DE" sz="1600" dirty="0"/>
              <a:t> Pleite, Influencer-Fassade, einsam</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Rede mit dem Hotelier über dein fehlendes Honorar für das Influencer Video.</a:t>
            </a:r>
          </a:p>
          <a:p>
            <a:pPr marL="285750" indent="-285750">
              <a:buFont typeface="Arial" panose="020B0604020202020204" pitchFamily="34" charset="0"/>
              <a:buChar char="•"/>
            </a:pPr>
            <a:r>
              <a:rPr lang="de-DE" sz="1600" dirty="0"/>
              <a:t>Bitte Alexa oder Maria um ein kurzes Video – tu übertrieben glücklich neue Freunde gefunden zu haben und sei anhänglich.</a:t>
            </a:r>
          </a:p>
          <a:p>
            <a:pPr marL="285750" indent="-285750">
              <a:buFont typeface="Arial" panose="020B0604020202020204" pitchFamily="34" charset="0"/>
              <a:buChar char="•"/>
            </a:pPr>
            <a:r>
              <a:rPr lang="de-DE" sz="1600" dirty="0"/>
              <a:t>Erzähle überall, dass du kurz vorm Durchbruch stehst und schon 100 Follower auf Facebook hast.</a:t>
            </a:r>
          </a:p>
          <a:p>
            <a:pPr marL="285750" indent="-285750">
              <a:buFont typeface="Arial" panose="020B0604020202020204" pitchFamily="34" charset="0"/>
              <a:buChar char="•"/>
            </a:pPr>
            <a:r>
              <a:rPr lang="de-DE" sz="1600" dirty="0"/>
              <a:t>(Z) Sprich mit Sarah über deinen gefundenen Onlineartikel zur Hoteltragödie vor drei Jahren – du glaubst, dass es Jonas Mutter war die damals verstorben ist.</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Alexa</a:t>
            </a:r>
            <a:r>
              <a:rPr lang="de-DE" sz="1600" dirty="0"/>
              <a:t>, dass ihr Startup in Schwierigkeiten steckt – die Enttäuschung über den Hotelier ist deutlich zu sehen.</a:t>
            </a:r>
          </a:p>
          <a:p>
            <a:pPr marL="285750" indent="-285750">
              <a:buFont typeface="Arial" panose="020B0604020202020204" pitchFamily="34" charset="0"/>
              <a:buChar char="•"/>
            </a:pPr>
            <a:r>
              <a:rPr lang="de-DE" sz="1600" b="1" dirty="0"/>
              <a:t>Du bemerkst bei Viktor</a:t>
            </a:r>
            <a:r>
              <a:rPr lang="de-DE" sz="1600" dirty="0"/>
              <a:t>, dass er alle Gäste extrem gestresst anfahren muss – er braucht unbedingt Geld und die anderen scheinen eher seines zu wollen.</a:t>
            </a:r>
          </a:p>
          <a:p>
            <a:pPr marL="285750" indent="-285750">
              <a:buFont typeface="Arial" panose="020B0604020202020204" pitchFamily="34" charset="0"/>
              <a:buChar char="•"/>
            </a:pPr>
            <a:r>
              <a:rPr lang="de-DE" sz="1600" b="1" dirty="0"/>
              <a:t>Du bemerkst bei Max Gold</a:t>
            </a:r>
            <a:r>
              <a:rPr lang="de-DE" sz="1600" dirty="0"/>
              <a:t>, dass sein übertriebener Optimismus extrem gespielt wirkt – vermutlich gibt es finanzielle Probleme.</a:t>
            </a:r>
          </a:p>
          <a:p>
            <a:pPr marL="285750" indent="-285750">
              <a:buFont typeface="Arial" panose="020B0604020202020204" pitchFamily="34" charset="0"/>
              <a:buChar char="•"/>
            </a:pPr>
            <a:r>
              <a:rPr lang="de-DE" sz="1600" b="1" dirty="0"/>
              <a:t>(Z) Du bemerkst bei Sarah</a:t>
            </a:r>
            <a:r>
              <a:rPr lang="de-DE" sz="1600" dirty="0"/>
              <a:t>, dass der Vorfall vor drei Jahren sie stärker belastet, als sie zugibt.</a:t>
            </a:r>
          </a:p>
          <a:p>
            <a:pPr marL="285750" indent="-285750">
              <a:buFont typeface="Arial" panose="020B0604020202020204" pitchFamily="34" charset="0"/>
              <a:buChar char="•"/>
            </a:pPr>
            <a:endParaRPr lang="de-DE" sz="1600" dirty="0"/>
          </a:p>
        </p:txBody>
      </p:sp>
    </p:spTree>
    <p:extLst>
      <p:ext uri="{BB962C8B-B14F-4D97-AF65-F5344CB8AC3E}">
        <p14:creationId xmlns:p14="http://schemas.microsoft.com/office/powerpoint/2010/main" val="399634329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4117</Words>
  <Application>Microsoft Macintosh PowerPoint</Application>
  <PresentationFormat>Breitbild</PresentationFormat>
  <Paragraphs>295</Paragraphs>
  <Slides>14</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14</vt:i4>
      </vt:variant>
    </vt:vector>
  </HeadingPairs>
  <TitlesOfParts>
    <vt:vector size="18" baseType="lpstr">
      <vt:lpstr>Arial</vt:lpstr>
      <vt:lpstr>Calibri</vt:lpstr>
      <vt:lpstr>Calibri Light</vt:lpstr>
      <vt:lpstr>Office</vt:lpstr>
      <vt:lpstr>Krimidinner</vt:lpstr>
      <vt:lpstr>Einleitung </vt:lpstr>
      <vt:lpstr>Charaktere</vt:lpstr>
      <vt:lpstr>Kleine Aufgaben</vt:lpstr>
      <vt:lpstr>1. Dr. Sarah Chen – Ehemalige Notärztin heute HNO Ärztin</vt:lpstr>
      <vt:lpstr>2. Luna Silbermann – Esoterikerin</vt:lpstr>
      <vt:lpstr>3. Maximilian „Max“ Gold – Golfprofi</vt:lpstr>
      <vt:lpstr>4. Tom Greenwood – Förster</vt:lpstr>
      <vt:lpstr>5. Maria Gonzalez – Dolmetscherin</vt:lpstr>
      <vt:lpstr>6. Vincent Dubois – Lebemann</vt:lpstr>
      <vt:lpstr>7. Alexa Steinberg – Tech-Entrepreneurin</vt:lpstr>
      <vt:lpstr>8. Viktoria Lang – Bürgermeisterin</vt:lpstr>
      <vt:lpstr>9. Pater Antonio Benedetti – Priester</vt:lpstr>
      <vt:lpstr>10. Jazz Monroe – Musikerin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Krimidinner</dc:title>
  <dc:creator>Stefan Weigl</dc:creator>
  <cp:lastModifiedBy>Stefan Weigl</cp:lastModifiedBy>
  <cp:revision>27</cp:revision>
  <dcterms:created xsi:type="dcterms:W3CDTF">2025-11-26T12:39:11Z</dcterms:created>
  <dcterms:modified xsi:type="dcterms:W3CDTF">2025-11-29T11:46:58Z</dcterms:modified>
</cp:coreProperties>
</file>